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63" r:id="rId3"/>
    <p:sldId id="258" r:id="rId4"/>
    <p:sldId id="303" r:id="rId5"/>
    <p:sldId id="306" r:id="rId6"/>
    <p:sldId id="307" r:id="rId7"/>
    <p:sldId id="334" r:id="rId8"/>
    <p:sldId id="333" r:id="rId9"/>
    <p:sldId id="343" r:id="rId10"/>
    <p:sldId id="335" r:id="rId11"/>
    <p:sldId id="344" r:id="rId12"/>
    <p:sldId id="336" r:id="rId13"/>
    <p:sldId id="337" r:id="rId14"/>
    <p:sldId id="338" r:id="rId15"/>
    <p:sldId id="339" r:id="rId16"/>
    <p:sldId id="340" r:id="rId17"/>
    <p:sldId id="341" r:id="rId18"/>
    <p:sldId id="342" r:id="rId19"/>
    <p:sldId id="345" r:id="rId2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7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26/03/2026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26/03/2026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rafaelrav8770/IDS.git" TargetMode="External"/><Relationship Id="rId2" Type="http://schemas.openxmlformats.org/officeDocument/2006/relationships/hyperlink" Target="https://github.com/rafaelrav8770/eventcontrol.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1209675" y="1824715"/>
            <a:ext cx="8667750" cy="1627561"/>
          </a:xfrm>
          <a:prstGeom prst="rect">
            <a:avLst/>
          </a:prstGeom>
          <a:noFill/>
        </p:spPr>
        <p:txBody>
          <a:bodyPr wrap="square">
            <a:spAutoFit/>
          </a:bodyPr>
          <a:lstStyle/>
          <a:p>
            <a:pPr algn="ctr">
              <a:lnSpc>
                <a:spcPct val="107000"/>
              </a:lnSpc>
              <a:spcAft>
                <a:spcPts val="800"/>
              </a:spcAft>
              <a:buNone/>
            </a:pPr>
            <a:r>
              <a:rPr lang="es-MX" b="1" kern="0" dirty="0">
                <a:latin typeface="Arial" panose="020B0604020202020204" pitchFamily="34" charset="0"/>
                <a:ea typeface="Arial" panose="020B0604020202020204" pitchFamily="34" charset="0"/>
                <a:cs typeface="Arial" panose="020B0604020202020204" pitchFamily="34" charset="0"/>
              </a:rPr>
              <a:t>INGENIERIA DE SOFTWARE</a:t>
            </a: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a:t>
            </a:r>
            <a:r>
              <a:rPr lang="es-MX" sz="2000" b="1" kern="0">
                <a:latin typeface="Arial" panose="020B0604020202020204" pitchFamily="34" charset="0"/>
                <a:ea typeface="Arial" panose="020B0604020202020204" pitchFamily="34" charset="0"/>
                <a:cs typeface="Arial" panose="020B0604020202020204" pitchFamily="34" charset="0"/>
              </a:rPr>
              <a:t>4</a:t>
            </a:r>
            <a:r>
              <a:rPr lang="es-MX" sz="2000" b="1" kern="0">
                <a:effectLst/>
                <a:latin typeface="Arial" panose="020B0604020202020204" pitchFamily="34" charset="0"/>
                <a:ea typeface="Arial" panose="020B0604020202020204" pitchFamily="34" charset="0"/>
                <a:cs typeface="Arial" panose="020B0604020202020204" pitchFamily="34" charset="0"/>
              </a:rPr>
              <a:t>.3 –</a:t>
            </a:r>
            <a:r>
              <a:rPr lang="es-MX" sz="2000" b="1" kern="0">
                <a:latin typeface="Arial" panose="020B0604020202020204" pitchFamily="34" charset="0"/>
                <a:cs typeface="Arial" panose="020B0604020202020204" pitchFamily="34" charset="0"/>
              </a:rPr>
              <a:t>EJERCICIOS</a:t>
            </a:r>
            <a:endParaRPr lang="es-MX" sz="2000" b="1" kern="0" dirty="0">
              <a:latin typeface="Arial" panose="020B0604020202020204" pitchFamily="34" charset="0"/>
              <a:cs typeface="Arial" panose="020B0604020202020204" pitchFamily="34" charset="0"/>
            </a:endParaRPr>
          </a:p>
          <a:p>
            <a:pPr algn="ctr">
              <a:lnSpc>
                <a:spcPct val="107000"/>
              </a:lnSpc>
              <a:spcAft>
                <a:spcPts val="800"/>
              </a:spcAft>
              <a:buNone/>
            </a:pP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3094276835"/>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SEXTO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3615904" y="3275886"/>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a:effectLst/>
                <a:latin typeface="Arial" panose="020B0604020202020204" pitchFamily="34" charset="0"/>
                <a:ea typeface="Times New Roman" panose="02020603050405020304" pitchFamily="18" charset="0"/>
                <a:cs typeface="Arial" panose="020B0604020202020204" pitchFamily="34" charset="0"/>
              </a:rPr>
              <a:t>29 </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DE </a:t>
            </a:r>
            <a:r>
              <a:rPr lang="es-MX" sz="2000" b="1" kern="0" dirty="0">
                <a:latin typeface="Arial" panose="020B0604020202020204" pitchFamily="34" charset="0"/>
                <a:ea typeface="Times New Roman" panose="02020603050405020304" pitchFamily="18" charset="0"/>
                <a:cs typeface="Arial" panose="020B0604020202020204" pitchFamily="34" charset="0"/>
              </a:rPr>
              <a:t>MARZ</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O 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a:bodyPr>
          <a:lstStyle/>
          <a:p>
            <a:pPr marL="0" indent="0">
              <a:buNone/>
            </a:pPr>
            <a:r>
              <a:rPr lang="es-MX" sz="4400" b="1" kern="0" dirty="0">
                <a:solidFill>
                  <a:schemeClr val="accent1"/>
                </a:solidFill>
                <a:latin typeface="+mj-lt"/>
                <a:cs typeface="Arial" panose="020B0604020202020204" pitchFamily="34" charset="0"/>
              </a:rPr>
              <a:t>Introducción</a:t>
            </a:r>
          </a:p>
          <a:p>
            <a:pPr marL="0" indent="0">
              <a:buNone/>
            </a:pPr>
            <a:endParaRPr lang="es-MX" dirty="0"/>
          </a:p>
          <a:p>
            <a:pPr marL="0" indent="0" algn="just">
              <a:buNone/>
            </a:pPr>
            <a:r>
              <a:rPr lang="es-MX" dirty="0"/>
              <a:t>Las pruebas de software constituyen una etapa fundamental dentro del ciclo de vida del desarrollo de sistemas, ya que permiten verificar y validar que el sistema cumple con los requisitos establecidos. A través de estas, es posible identificar errores, mejorar la calidad del producto y garantizar su correcto funcionamiento antes de su implementación en un entorno real.</a:t>
            </a:r>
          </a:p>
          <a:p>
            <a:pPr marL="0" indent="0" algn="just">
              <a:buNone/>
            </a:pPr>
            <a:r>
              <a:rPr lang="es-MX" dirty="0"/>
              <a:t>Los conceptos se aplican al sistema </a:t>
            </a:r>
            <a:r>
              <a:rPr lang="es-MX" b="1" dirty="0" err="1"/>
              <a:t>EventControl</a:t>
            </a:r>
            <a:r>
              <a:rPr lang="es-MX" dirty="0"/>
              <a:t>, una aplicación diseñada para la gestión de eventos mediante el uso de códigos QR y control de acceso en tiempo real.</a:t>
            </a:r>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p:txBody>
          <a:bodyPr/>
          <a:lstStyle/>
          <a:p>
            <a:pPr marL="0" indent="0">
              <a:buNone/>
            </a:pPr>
            <a:r>
              <a:rPr lang="es-MX" sz="4400" b="1" kern="0" dirty="0">
                <a:solidFill>
                  <a:schemeClr val="accent1"/>
                </a:solidFill>
                <a:latin typeface="+mj-lt"/>
                <a:cs typeface="Arial" panose="020B0604020202020204" pitchFamily="34" charset="0"/>
              </a:rPr>
              <a:t>Objetivo</a:t>
            </a:r>
          </a:p>
          <a:p>
            <a:pPr marL="0" indent="0">
              <a:buNone/>
            </a:pPr>
            <a:r>
              <a:rPr lang="es-MX" dirty="0"/>
              <a:t> </a:t>
            </a:r>
          </a:p>
          <a:p>
            <a:pPr marL="0" indent="0" algn="just">
              <a:buNone/>
            </a:pPr>
            <a:r>
              <a:rPr lang="es-MX" dirty="0"/>
              <a:t>Implementar el sistema </a:t>
            </a:r>
            <a:r>
              <a:rPr lang="es-MX" dirty="0" err="1"/>
              <a:t>EventControl</a:t>
            </a:r>
            <a:r>
              <a:rPr lang="es-MX" dirty="0"/>
              <a:t> en un entorno simulado, aplicando procesos de implantación, ejecución del sistema, capacitación a usuarios y validación de su funcionamiento mediante un escenario real, con el fin de comprobar su operatividad en condiciones reales.</a:t>
            </a:r>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p:txBody>
          <a:bodyPr>
            <a:normAutofit/>
          </a:bodyPr>
          <a:lstStyle/>
          <a:p>
            <a:r>
              <a:rPr lang="es-MX" sz="4800" b="1" dirty="0">
                <a:solidFill>
                  <a:schemeClr val="accent1"/>
                </a:solidFill>
              </a:rPr>
              <a:t>justificación</a:t>
            </a:r>
          </a:p>
        </p:txBody>
      </p:sp>
      <p:sp>
        <p:nvSpPr>
          <p:cNvPr id="3" name="Marcador de contenido 2">
            <a:extLst>
              <a:ext uri="{FF2B5EF4-FFF2-40B4-BE49-F238E27FC236}">
                <a16:creationId xmlns:a16="http://schemas.microsoft.com/office/drawing/2014/main" id="{8CEA835B-7257-6BC0-9849-98A1416CE74C}"/>
              </a:ext>
            </a:extLst>
          </p:cNvPr>
          <p:cNvSpPr>
            <a:spLocks noGrp="1"/>
          </p:cNvSpPr>
          <p:nvPr>
            <p:ph idx="1"/>
          </p:nvPr>
        </p:nvSpPr>
        <p:spPr/>
        <p:txBody>
          <a:bodyPr>
            <a:normAutofit/>
          </a:bodyPr>
          <a:lstStyle/>
          <a:p>
            <a:pPr marL="0" indent="0" algn="just">
              <a:buNone/>
            </a:pPr>
            <a:r>
              <a:rPr lang="es-MX" dirty="0"/>
              <a:t>La implementación de pruebas y procesos de implantación en el sistema </a:t>
            </a:r>
            <a:r>
              <a:rPr lang="es-MX" b="1" dirty="0" err="1"/>
              <a:t>EventControl</a:t>
            </a:r>
            <a:r>
              <a:rPr lang="es-MX" dirty="0"/>
              <a:t> es fundamental para garantizar el correcto funcionamiento antes de su uso en un evento real.</a:t>
            </a:r>
          </a:p>
          <a:p>
            <a:pPr marL="0" indent="0" algn="just">
              <a:buNone/>
            </a:pPr>
            <a:r>
              <a:rPr lang="es-MX" dirty="0"/>
              <a:t>Dado que el sistema está diseñado para operar en eventos en vivo, donde no existe margen para errores, resulta indispensable validar cada una de sus funcionalidades. Los invitados requieren un acceso ágil, el personal necesita herramientas confiables y los organizadores requieren visibilidad en tiempo real del estado del evento.</a:t>
            </a:r>
          </a:p>
          <a:p>
            <a:pPr marL="0" indent="0" algn="just">
              <a:buNone/>
            </a:pPr>
            <a:r>
              <a:rPr lang="es-MX" dirty="0"/>
              <a:t>la aplicación de pruebas, implantación y capacitación permite reducir riesgos y asegurar una experiencia eficiente para todos los usuarios.</a:t>
            </a:r>
          </a:p>
          <a:p>
            <a:pPr marL="0" indent="0" algn="just">
              <a:buNone/>
            </a:pPr>
            <a:endParaRPr lang="es-MX" dirty="0"/>
          </a:p>
        </p:txBody>
      </p:sp>
    </p:spTree>
    <p:extLst>
      <p:ext uri="{BB962C8B-B14F-4D97-AF65-F5344CB8AC3E}">
        <p14:creationId xmlns:p14="http://schemas.microsoft.com/office/powerpoint/2010/main" val="352723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EA6E47-14ED-39E0-9C91-43138D1B3ED4}"/>
              </a:ext>
            </a:extLst>
          </p:cNvPr>
          <p:cNvSpPr>
            <a:spLocks noGrp="1"/>
          </p:cNvSpPr>
          <p:nvPr>
            <p:ph type="title"/>
          </p:nvPr>
        </p:nvSpPr>
        <p:spPr/>
        <p:txBody>
          <a:bodyPr/>
          <a:lstStyle/>
          <a:p>
            <a:r>
              <a:rPr lang="es-MX" b="1" dirty="0">
                <a:solidFill>
                  <a:schemeClr val="accent1"/>
                </a:solidFill>
              </a:rPr>
              <a:t>Descripción del sistema </a:t>
            </a:r>
            <a:r>
              <a:rPr lang="es-MX" b="1" dirty="0" err="1">
                <a:solidFill>
                  <a:schemeClr val="accent1"/>
                </a:solidFill>
              </a:rPr>
              <a:t>EventControl</a:t>
            </a:r>
            <a:endParaRPr lang="es-MX" dirty="0">
              <a:solidFill>
                <a:schemeClr val="accent1"/>
              </a:solidFill>
            </a:endParaRPr>
          </a:p>
        </p:txBody>
      </p:sp>
      <p:sp>
        <p:nvSpPr>
          <p:cNvPr id="3" name="Marcador de contenido 2">
            <a:extLst>
              <a:ext uri="{FF2B5EF4-FFF2-40B4-BE49-F238E27FC236}">
                <a16:creationId xmlns:a16="http://schemas.microsoft.com/office/drawing/2014/main" id="{1C5695D9-5E7F-0A22-B7C0-70870CE71F5F}"/>
              </a:ext>
            </a:extLst>
          </p:cNvPr>
          <p:cNvSpPr>
            <a:spLocks noGrp="1"/>
          </p:cNvSpPr>
          <p:nvPr>
            <p:ph idx="1"/>
          </p:nvPr>
        </p:nvSpPr>
        <p:spPr/>
        <p:txBody>
          <a:bodyPr>
            <a:normAutofit fontScale="62500" lnSpcReduction="20000"/>
          </a:bodyPr>
          <a:lstStyle/>
          <a:p>
            <a:pPr marL="0" indent="0" algn="just">
              <a:buNone/>
            </a:pPr>
            <a:r>
              <a:rPr lang="es-MX" dirty="0" err="1"/>
              <a:t>EventControl</a:t>
            </a:r>
            <a:r>
              <a:rPr lang="es-MX" dirty="0"/>
              <a:t> es un sistema digital diseñado para apoyar en la organización y administración de eventos. Su objetivo principal es permitir la gestión eficiente de la información relacionada con los invitados y la logística del evento.</a:t>
            </a:r>
          </a:p>
          <a:p>
            <a:pPr marL="0" indent="0" algn="just">
              <a:buNone/>
            </a:pPr>
            <a:r>
              <a:rPr lang="es-MX" dirty="0"/>
              <a:t>El sistema permite registrar la información del evento, administrar invitados, asignar mesas y llevar un control de acceso de los asistentes.</a:t>
            </a:r>
          </a:p>
          <a:p>
            <a:pPr>
              <a:buFont typeface="Wingdings" panose="05000000000000000000" pitchFamily="2" charset="2"/>
              <a:buChar char="Ø"/>
            </a:pPr>
            <a:r>
              <a:rPr lang="es-MX" dirty="0"/>
              <a:t>Entre las principales funciones del sistema se encuentran:</a:t>
            </a:r>
          </a:p>
          <a:p>
            <a:pPr lvl="0">
              <a:buFont typeface="Wingdings" panose="05000000000000000000" pitchFamily="2" charset="2"/>
              <a:buChar char="Ø"/>
            </a:pPr>
            <a:r>
              <a:rPr lang="es-MX" dirty="0"/>
              <a:t>Registro de eventos</a:t>
            </a:r>
          </a:p>
          <a:p>
            <a:pPr lvl="0">
              <a:buFont typeface="Wingdings" panose="05000000000000000000" pitchFamily="2" charset="2"/>
              <a:buChar char="Ø"/>
            </a:pPr>
            <a:r>
              <a:rPr lang="es-MX" dirty="0"/>
              <a:t>Registro de invitados</a:t>
            </a:r>
          </a:p>
          <a:p>
            <a:pPr lvl="0">
              <a:buFont typeface="Wingdings" panose="05000000000000000000" pitchFamily="2" charset="2"/>
              <a:buChar char="Ø"/>
            </a:pPr>
            <a:r>
              <a:rPr lang="es-MX" dirty="0"/>
              <a:t>Asignación de mesas</a:t>
            </a:r>
          </a:p>
          <a:p>
            <a:pPr lvl="0">
              <a:buFont typeface="Wingdings" panose="05000000000000000000" pitchFamily="2" charset="2"/>
              <a:buChar char="Ø"/>
            </a:pPr>
            <a:r>
              <a:rPr lang="es-MX" dirty="0"/>
              <a:t>Control de acceso al evento</a:t>
            </a:r>
          </a:p>
          <a:p>
            <a:pPr lvl="0">
              <a:buFont typeface="Wingdings" panose="05000000000000000000" pitchFamily="2" charset="2"/>
              <a:buChar char="Ø"/>
            </a:pPr>
            <a:r>
              <a:rPr lang="es-MX" dirty="0"/>
              <a:t>Confirmación de asistencia</a:t>
            </a:r>
          </a:p>
          <a:p>
            <a:pPr lvl="0">
              <a:buFont typeface="Wingdings" panose="05000000000000000000" pitchFamily="2" charset="2"/>
              <a:buChar char="Ø"/>
            </a:pPr>
            <a:r>
              <a:rPr lang="es-MX" dirty="0"/>
              <a:t>Administración de invitados</a:t>
            </a:r>
          </a:p>
          <a:p>
            <a:pPr lvl="0">
              <a:buFont typeface="Wingdings" panose="05000000000000000000" pitchFamily="2" charset="2"/>
              <a:buChar char="Ø"/>
            </a:pPr>
            <a:r>
              <a:rPr lang="es-MX" dirty="0"/>
              <a:t>Panel administrativo</a:t>
            </a:r>
          </a:p>
          <a:p>
            <a:pPr>
              <a:buFont typeface="Wingdings" panose="05000000000000000000" pitchFamily="2" charset="2"/>
              <a:buChar char="Ø"/>
            </a:pPr>
            <a:r>
              <a:rPr lang="es-MX" dirty="0"/>
              <a:t>Estas funcionalidades permiten mejorar la organización del evento mediante el uso de herramientas tecnológicas.</a:t>
            </a:r>
          </a:p>
          <a:p>
            <a:endParaRPr lang="es-MX" dirty="0"/>
          </a:p>
        </p:txBody>
      </p:sp>
    </p:spTree>
    <p:extLst>
      <p:ext uri="{BB962C8B-B14F-4D97-AF65-F5344CB8AC3E}">
        <p14:creationId xmlns:p14="http://schemas.microsoft.com/office/powerpoint/2010/main" val="3792537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F87FE97-0C0C-86EF-C9AE-862F5E06582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pic>
        <p:nvPicPr>
          <p:cNvPr id="1025" name="Imagen 1">
            <a:extLst>
              <a:ext uri="{FF2B5EF4-FFF2-40B4-BE49-F238E27FC236}">
                <a16:creationId xmlns:a16="http://schemas.microsoft.com/office/drawing/2014/main" id="{34AF92E1-628C-41F7-C61A-4787F51148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3045" y="561975"/>
            <a:ext cx="4939879" cy="27813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01FA5F75-F26D-EF43-0D9E-C4EF09DB7090}"/>
              </a:ext>
            </a:extLst>
          </p:cNvPr>
          <p:cNvSpPr>
            <a:spLocks noChangeArrowheads="1"/>
          </p:cNvSpPr>
          <p:nvPr/>
        </p:nvSpPr>
        <p:spPr bwMode="auto">
          <a:xfrm>
            <a:off x="7574411" y="3448050"/>
            <a:ext cx="45333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s-MX" dirty="0"/>
              <a:t>Panel administrativo del sistema </a:t>
            </a:r>
            <a:r>
              <a:rPr lang="es-MX" b="1" dirty="0" err="1"/>
              <a:t>EventControl</a:t>
            </a:r>
            <a:r>
              <a:rPr lang="es-MX" b="1" dirty="0"/>
              <a:t>.</a:t>
            </a:r>
            <a:endParaRPr kumimoji="0" lang="es-MX" altLang="es-MX" sz="1200" b="1" u="none" strike="noStrike" cap="none" normalizeH="0" baseline="0" dirty="0">
              <a:ln>
                <a:noFill/>
              </a:ln>
              <a:effectLst/>
              <a:latin typeface="Arial" panose="020B0604020202020204" pitchFamily="34" charset="0"/>
            </a:endParaRPr>
          </a:p>
        </p:txBody>
      </p:sp>
      <p:pic>
        <p:nvPicPr>
          <p:cNvPr id="3" name="Imagen 2">
            <a:extLst>
              <a:ext uri="{FF2B5EF4-FFF2-40B4-BE49-F238E27FC236}">
                <a16:creationId xmlns:a16="http://schemas.microsoft.com/office/drawing/2014/main" id="{F7694A87-0AE0-6314-3723-08EA600A2A07}"/>
              </a:ext>
            </a:extLst>
          </p:cNvPr>
          <p:cNvPicPr>
            <a:picLocks noChangeAspect="1"/>
          </p:cNvPicPr>
          <p:nvPr/>
        </p:nvPicPr>
        <p:blipFill>
          <a:blip r:embed="rId3"/>
          <a:stretch>
            <a:fillRect/>
          </a:stretch>
        </p:blipFill>
        <p:spPr>
          <a:xfrm>
            <a:off x="638175" y="490537"/>
            <a:ext cx="5198533" cy="2924175"/>
          </a:xfrm>
          <a:prstGeom prst="rect">
            <a:avLst/>
          </a:prstGeom>
        </p:spPr>
      </p:pic>
      <p:sp>
        <p:nvSpPr>
          <p:cNvPr id="7" name="CuadroTexto 6">
            <a:extLst>
              <a:ext uri="{FF2B5EF4-FFF2-40B4-BE49-F238E27FC236}">
                <a16:creationId xmlns:a16="http://schemas.microsoft.com/office/drawing/2014/main" id="{B6578634-BC37-5EA6-2AE2-7A4155A50E9F}"/>
              </a:ext>
            </a:extLst>
          </p:cNvPr>
          <p:cNvSpPr txBox="1"/>
          <p:nvPr/>
        </p:nvSpPr>
        <p:spPr>
          <a:xfrm>
            <a:off x="638175" y="3515022"/>
            <a:ext cx="5198533" cy="369332"/>
          </a:xfrm>
          <a:prstGeom prst="rect">
            <a:avLst/>
          </a:prstGeom>
          <a:noFill/>
        </p:spPr>
        <p:txBody>
          <a:bodyPr wrap="square">
            <a:spAutoFit/>
          </a:bodyPr>
          <a:lstStyle/>
          <a:p>
            <a:pPr algn="just"/>
            <a:r>
              <a:rPr lang="es-MX" dirty="0"/>
              <a:t>Pantalla de inicio de sesión del sistema.</a:t>
            </a:r>
          </a:p>
        </p:txBody>
      </p:sp>
    </p:spTree>
    <p:extLst>
      <p:ext uri="{BB962C8B-B14F-4D97-AF65-F5344CB8AC3E}">
        <p14:creationId xmlns:p14="http://schemas.microsoft.com/office/powerpoint/2010/main" val="3863405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BEBB2F-25D0-2592-E313-56B1D6DB2902}"/>
              </a:ext>
            </a:extLst>
          </p:cNvPr>
          <p:cNvSpPr>
            <a:spLocks noGrp="1"/>
          </p:cNvSpPr>
          <p:nvPr>
            <p:ph type="title"/>
          </p:nvPr>
        </p:nvSpPr>
        <p:spPr/>
        <p:txBody>
          <a:bodyPr/>
          <a:lstStyle/>
          <a:p>
            <a:r>
              <a:rPr lang="es-MX" dirty="0">
                <a:solidFill>
                  <a:schemeClr val="accent1"/>
                </a:solidFill>
              </a:rPr>
              <a:t>Preparación del sistema</a:t>
            </a:r>
          </a:p>
        </p:txBody>
      </p:sp>
      <p:sp>
        <p:nvSpPr>
          <p:cNvPr id="3" name="Marcador de contenido 2">
            <a:extLst>
              <a:ext uri="{FF2B5EF4-FFF2-40B4-BE49-F238E27FC236}">
                <a16:creationId xmlns:a16="http://schemas.microsoft.com/office/drawing/2014/main" id="{07F06B3B-C0A8-F951-0F63-7DC9C8844CE5}"/>
              </a:ext>
            </a:extLst>
          </p:cNvPr>
          <p:cNvSpPr>
            <a:spLocks noGrp="1"/>
          </p:cNvSpPr>
          <p:nvPr>
            <p:ph idx="1"/>
          </p:nvPr>
        </p:nvSpPr>
        <p:spPr>
          <a:xfrm>
            <a:off x="838201" y="1825625"/>
            <a:ext cx="6220326" cy="4351338"/>
          </a:xfrm>
        </p:spPr>
        <p:txBody>
          <a:bodyPr>
            <a:normAutofit fontScale="92500" lnSpcReduction="10000"/>
          </a:bodyPr>
          <a:lstStyle/>
          <a:p>
            <a:pPr>
              <a:buFont typeface="Wingdings" panose="05000000000000000000" pitchFamily="2" charset="2"/>
              <a:buChar char="Ø"/>
            </a:pPr>
            <a:r>
              <a:rPr lang="es-MX" dirty="0"/>
              <a:t>Se llevó a cabo la configuración inicial del sistema, incluyendo:</a:t>
            </a:r>
          </a:p>
          <a:p>
            <a:pPr>
              <a:buFont typeface="Wingdings" panose="05000000000000000000" pitchFamily="2" charset="2"/>
              <a:buChar char="Ø"/>
            </a:pPr>
            <a:r>
              <a:rPr lang="es-MX" dirty="0"/>
              <a:t>Creación y configuración de la base de datos en </a:t>
            </a:r>
            <a:r>
              <a:rPr lang="es-MX" dirty="0" err="1"/>
              <a:t>Supabase</a:t>
            </a:r>
            <a:r>
              <a:rPr lang="es-MX" dirty="0"/>
              <a:t> </a:t>
            </a:r>
          </a:p>
          <a:p>
            <a:pPr>
              <a:buFont typeface="Wingdings" panose="05000000000000000000" pitchFamily="2" charset="2"/>
              <a:buChar char="Ø"/>
            </a:pPr>
            <a:r>
              <a:rPr lang="es-MX" dirty="0"/>
              <a:t>Definición de tablas (mesas, pases de invitados, registros de entrada) </a:t>
            </a:r>
          </a:p>
          <a:p>
            <a:pPr>
              <a:buFont typeface="Wingdings" panose="05000000000000000000" pitchFamily="2" charset="2"/>
              <a:buChar char="Ø"/>
            </a:pPr>
            <a:r>
              <a:rPr lang="es-MX" dirty="0"/>
              <a:t>Configuración de variables de entorno </a:t>
            </a:r>
          </a:p>
          <a:p>
            <a:pPr>
              <a:buFont typeface="Wingdings" panose="05000000000000000000" pitchFamily="2" charset="2"/>
              <a:buChar char="Ø"/>
            </a:pPr>
            <a:r>
              <a:rPr lang="es-MX" dirty="0"/>
              <a:t>Despliegue del sistema en la plataforma </a:t>
            </a:r>
            <a:r>
              <a:rPr lang="es-MX" dirty="0" err="1"/>
              <a:t>Vercel</a:t>
            </a:r>
            <a:r>
              <a:rPr lang="es-MX" dirty="0"/>
              <a:t> </a:t>
            </a:r>
          </a:p>
          <a:p>
            <a:pPr>
              <a:buFont typeface="Wingdings" panose="05000000000000000000" pitchFamily="2" charset="2"/>
              <a:buChar char="Ø"/>
            </a:pPr>
            <a:r>
              <a:rPr lang="es-MX" dirty="0"/>
              <a:t>Verificación de acceso mediante URL del sistema </a:t>
            </a:r>
          </a:p>
          <a:p>
            <a:endParaRPr lang="es-MX" dirty="0"/>
          </a:p>
        </p:txBody>
      </p:sp>
      <p:pic>
        <p:nvPicPr>
          <p:cNvPr id="4" name="Imagen 1">
            <a:extLst>
              <a:ext uri="{FF2B5EF4-FFF2-40B4-BE49-F238E27FC236}">
                <a16:creationId xmlns:a16="http://schemas.microsoft.com/office/drawing/2014/main" id="{C0D3F84E-0ACD-AD10-29A1-34F96E2531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1121" y="2038350"/>
            <a:ext cx="4939879" cy="278130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A78AE757-5537-E8B8-79A5-97620AE67F48}"/>
              </a:ext>
            </a:extLst>
          </p:cNvPr>
          <p:cNvSpPr txBox="1"/>
          <p:nvPr/>
        </p:nvSpPr>
        <p:spPr>
          <a:xfrm>
            <a:off x="7058527" y="4954587"/>
            <a:ext cx="4314237" cy="646331"/>
          </a:xfrm>
          <a:prstGeom prst="rect">
            <a:avLst/>
          </a:prstGeom>
          <a:noFill/>
        </p:spPr>
        <p:txBody>
          <a:bodyPr wrap="square">
            <a:spAutoFit/>
          </a:bodyPr>
          <a:lstStyle/>
          <a:p>
            <a:r>
              <a:rPr lang="es-MX" dirty="0"/>
              <a:t>Configuración inicial del sistema en el panel administrativo.</a:t>
            </a:r>
          </a:p>
        </p:txBody>
      </p:sp>
    </p:spTree>
    <p:extLst>
      <p:ext uri="{BB962C8B-B14F-4D97-AF65-F5344CB8AC3E}">
        <p14:creationId xmlns:p14="http://schemas.microsoft.com/office/powerpoint/2010/main" val="2417339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F7C950-1D30-0091-E921-E17B4864E2D9}"/>
              </a:ext>
            </a:extLst>
          </p:cNvPr>
          <p:cNvSpPr>
            <a:spLocks noGrp="1"/>
          </p:cNvSpPr>
          <p:nvPr>
            <p:ph type="title"/>
          </p:nvPr>
        </p:nvSpPr>
        <p:spPr/>
        <p:txBody>
          <a:bodyPr/>
          <a:lstStyle/>
          <a:p>
            <a:r>
              <a:rPr lang="es-MX" b="1" dirty="0">
                <a:solidFill>
                  <a:schemeClr val="accent1"/>
                </a:solidFill>
              </a:rPr>
              <a:t>Simulación del evento</a:t>
            </a:r>
            <a:endParaRPr lang="es-MX" dirty="0">
              <a:solidFill>
                <a:schemeClr val="accent1"/>
              </a:solidFill>
            </a:endParaRPr>
          </a:p>
        </p:txBody>
      </p:sp>
      <p:sp>
        <p:nvSpPr>
          <p:cNvPr id="3" name="Marcador de contenido 2">
            <a:extLst>
              <a:ext uri="{FF2B5EF4-FFF2-40B4-BE49-F238E27FC236}">
                <a16:creationId xmlns:a16="http://schemas.microsoft.com/office/drawing/2014/main" id="{1E58D8A3-CB30-531B-B248-441D67E67AE3}"/>
              </a:ext>
            </a:extLst>
          </p:cNvPr>
          <p:cNvSpPr>
            <a:spLocks noGrp="1"/>
          </p:cNvSpPr>
          <p:nvPr>
            <p:ph idx="1"/>
          </p:nvPr>
        </p:nvSpPr>
        <p:spPr>
          <a:xfrm>
            <a:off x="838200" y="1825625"/>
            <a:ext cx="10359189" cy="4351338"/>
          </a:xfrm>
        </p:spPr>
        <p:txBody>
          <a:bodyPr>
            <a:normAutofit lnSpcReduction="10000"/>
          </a:bodyPr>
          <a:lstStyle/>
          <a:p>
            <a:pPr marL="0" indent="0">
              <a:buNone/>
            </a:pPr>
            <a:r>
              <a:rPr lang="es-MX" dirty="0"/>
              <a:t>Se ejecutó el flujo completo del sistema simulando un evento real:</a:t>
            </a:r>
          </a:p>
          <a:p>
            <a:pPr>
              <a:buFont typeface="Wingdings" panose="05000000000000000000" pitchFamily="2" charset="2"/>
              <a:buChar char="Ø"/>
            </a:pPr>
            <a:r>
              <a:rPr lang="es-MX" dirty="0"/>
              <a:t>El administrador ingresó al panel y creó mesas </a:t>
            </a:r>
          </a:p>
          <a:p>
            <a:pPr>
              <a:buFont typeface="Wingdings" panose="05000000000000000000" pitchFamily="2" charset="2"/>
              <a:buChar char="Ø"/>
            </a:pPr>
            <a:r>
              <a:rPr lang="es-MX" dirty="0"/>
              <a:t>Se registraron invitados y familias </a:t>
            </a:r>
          </a:p>
          <a:p>
            <a:pPr>
              <a:buFont typeface="Wingdings" panose="05000000000000000000" pitchFamily="2" charset="2"/>
              <a:buChar char="Ø"/>
            </a:pPr>
            <a:r>
              <a:rPr lang="es-MX" dirty="0"/>
              <a:t>Se generaron códigos de acceso únicos para cada invitado </a:t>
            </a:r>
          </a:p>
          <a:p>
            <a:pPr>
              <a:buFont typeface="Wingdings" panose="05000000000000000000" pitchFamily="2" charset="2"/>
              <a:buChar char="Ø"/>
            </a:pPr>
            <a:r>
              <a:rPr lang="es-MX" dirty="0"/>
              <a:t>Se enviaron invitaciones mediante WhatsApp </a:t>
            </a:r>
          </a:p>
          <a:p>
            <a:pPr>
              <a:buFont typeface="Wingdings" panose="05000000000000000000" pitchFamily="2" charset="2"/>
              <a:buChar char="Ø"/>
            </a:pPr>
            <a:r>
              <a:rPr lang="es-MX" dirty="0"/>
              <a:t>Los invitados accedieron a la plataforma de confirmación </a:t>
            </a:r>
          </a:p>
          <a:p>
            <a:pPr>
              <a:buFont typeface="Wingdings" panose="05000000000000000000" pitchFamily="2" charset="2"/>
              <a:buChar char="Ø"/>
            </a:pPr>
            <a:r>
              <a:rPr lang="es-MX" dirty="0"/>
              <a:t>Se generaron invitaciones digitales con código QR </a:t>
            </a:r>
          </a:p>
          <a:p>
            <a:pPr>
              <a:buFont typeface="Wingdings" panose="05000000000000000000" pitchFamily="2" charset="2"/>
              <a:buChar char="Ø"/>
            </a:pPr>
            <a:r>
              <a:rPr lang="es-MX" dirty="0"/>
              <a:t>El personal de acceso escaneó los códigos QR </a:t>
            </a:r>
          </a:p>
          <a:p>
            <a:pPr>
              <a:buFont typeface="Wingdings" panose="05000000000000000000" pitchFamily="2" charset="2"/>
              <a:buChar char="Ø"/>
            </a:pPr>
            <a:r>
              <a:rPr lang="es-MX" dirty="0"/>
              <a:t>Se registró la entrada de invitados en tiempo real </a:t>
            </a:r>
          </a:p>
        </p:txBody>
      </p:sp>
    </p:spTree>
    <p:extLst>
      <p:ext uri="{BB962C8B-B14F-4D97-AF65-F5344CB8AC3E}">
        <p14:creationId xmlns:p14="http://schemas.microsoft.com/office/powerpoint/2010/main" val="147058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3106116-8F55-FB94-868D-DD3C368E579A}"/>
              </a:ext>
            </a:extLst>
          </p:cNvPr>
          <p:cNvPicPr>
            <a:picLocks noChangeAspect="1"/>
          </p:cNvPicPr>
          <p:nvPr/>
        </p:nvPicPr>
        <p:blipFill>
          <a:blip r:embed="rId2"/>
          <a:stretch>
            <a:fillRect/>
          </a:stretch>
        </p:blipFill>
        <p:spPr>
          <a:xfrm>
            <a:off x="1392564" y="1698982"/>
            <a:ext cx="5364261" cy="3017397"/>
          </a:xfrm>
          <a:prstGeom prst="rect">
            <a:avLst/>
          </a:prstGeom>
        </p:spPr>
      </p:pic>
      <p:pic>
        <p:nvPicPr>
          <p:cNvPr id="5" name="Imagen 4">
            <a:extLst>
              <a:ext uri="{FF2B5EF4-FFF2-40B4-BE49-F238E27FC236}">
                <a16:creationId xmlns:a16="http://schemas.microsoft.com/office/drawing/2014/main" id="{A82EB65D-5713-DF6F-711A-F33B8D7291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8800" y="1451540"/>
            <a:ext cx="1502165" cy="3338145"/>
          </a:xfrm>
          <a:prstGeom prst="rect">
            <a:avLst/>
          </a:prstGeom>
        </p:spPr>
      </p:pic>
      <p:sp>
        <p:nvSpPr>
          <p:cNvPr id="7" name="CuadroTexto 6">
            <a:extLst>
              <a:ext uri="{FF2B5EF4-FFF2-40B4-BE49-F238E27FC236}">
                <a16:creationId xmlns:a16="http://schemas.microsoft.com/office/drawing/2014/main" id="{C8FC82BD-B12B-F5CE-7B31-27B209785827}"/>
              </a:ext>
            </a:extLst>
          </p:cNvPr>
          <p:cNvSpPr txBox="1"/>
          <p:nvPr/>
        </p:nvSpPr>
        <p:spPr>
          <a:xfrm>
            <a:off x="1392564" y="4789685"/>
            <a:ext cx="4895941" cy="369332"/>
          </a:xfrm>
          <a:prstGeom prst="rect">
            <a:avLst/>
          </a:prstGeom>
          <a:noFill/>
        </p:spPr>
        <p:txBody>
          <a:bodyPr wrap="square">
            <a:spAutoFit/>
          </a:bodyPr>
          <a:lstStyle/>
          <a:p>
            <a:r>
              <a:rPr lang="es-MX" dirty="0"/>
              <a:t>Generación de pases con código de acceso</a:t>
            </a:r>
          </a:p>
        </p:txBody>
      </p:sp>
      <p:sp>
        <p:nvSpPr>
          <p:cNvPr id="9" name="CuadroTexto 8">
            <a:extLst>
              <a:ext uri="{FF2B5EF4-FFF2-40B4-BE49-F238E27FC236}">
                <a16:creationId xmlns:a16="http://schemas.microsoft.com/office/drawing/2014/main" id="{F1953225-8EDF-E24A-C63B-280FBCB07D03}"/>
              </a:ext>
            </a:extLst>
          </p:cNvPr>
          <p:cNvSpPr txBox="1"/>
          <p:nvPr/>
        </p:nvSpPr>
        <p:spPr>
          <a:xfrm>
            <a:off x="8348801" y="4974351"/>
            <a:ext cx="3843200" cy="646331"/>
          </a:xfrm>
          <a:prstGeom prst="rect">
            <a:avLst/>
          </a:prstGeom>
          <a:noFill/>
        </p:spPr>
        <p:txBody>
          <a:bodyPr wrap="square">
            <a:spAutoFit/>
          </a:bodyPr>
          <a:lstStyle/>
          <a:p>
            <a:r>
              <a:rPr lang="es-MX" dirty="0"/>
              <a:t>Confirmación de asistencia mediante ingreso de código.</a:t>
            </a:r>
          </a:p>
        </p:txBody>
      </p:sp>
    </p:spTree>
    <p:extLst>
      <p:ext uri="{BB962C8B-B14F-4D97-AF65-F5344CB8AC3E}">
        <p14:creationId xmlns:p14="http://schemas.microsoft.com/office/powerpoint/2010/main" val="2111316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93EF8A-3FA2-0474-112B-CC0E1E3F4474}"/>
              </a:ext>
            </a:extLst>
          </p:cNvPr>
          <p:cNvSpPr>
            <a:spLocks noGrp="1"/>
          </p:cNvSpPr>
          <p:nvPr>
            <p:ph type="title"/>
          </p:nvPr>
        </p:nvSpPr>
        <p:spPr/>
        <p:txBody>
          <a:bodyPr/>
          <a:lstStyle/>
          <a:p>
            <a:r>
              <a:rPr lang="es-MX" b="1" dirty="0">
                <a:solidFill>
                  <a:schemeClr val="accent1"/>
                </a:solidFill>
              </a:rPr>
              <a:t>Validación del funcionamiento</a:t>
            </a:r>
            <a:endParaRPr lang="es-MX" dirty="0"/>
          </a:p>
        </p:txBody>
      </p:sp>
      <p:sp>
        <p:nvSpPr>
          <p:cNvPr id="3" name="Marcador de contenido 2">
            <a:extLst>
              <a:ext uri="{FF2B5EF4-FFF2-40B4-BE49-F238E27FC236}">
                <a16:creationId xmlns:a16="http://schemas.microsoft.com/office/drawing/2014/main" id="{7DD520B9-0D17-E6EA-4146-CD31E4015B1E}"/>
              </a:ext>
            </a:extLst>
          </p:cNvPr>
          <p:cNvSpPr>
            <a:spLocks noGrp="1"/>
          </p:cNvSpPr>
          <p:nvPr>
            <p:ph idx="1"/>
          </p:nvPr>
        </p:nvSpPr>
        <p:spPr/>
        <p:txBody>
          <a:bodyPr>
            <a:normAutofit/>
          </a:bodyPr>
          <a:lstStyle/>
          <a:p>
            <a:pPr>
              <a:buFont typeface="Wingdings" panose="05000000000000000000" pitchFamily="2" charset="2"/>
              <a:buChar char="Ø"/>
            </a:pPr>
            <a:r>
              <a:rPr lang="es-MX" dirty="0"/>
              <a:t>Durante la simulación se verificó el correcto funcionamiento del sistema:</a:t>
            </a:r>
          </a:p>
          <a:p>
            <a:pPr>
              <a:buFont typeface="Wingdings" panose="05000000000000000000" pitchFamily="2" charset="2"/>
              <a:buChar char="Ø"/>
            </a:pPr>
            <a:r>
              <a:rPr lang="es-MX" dirty="0"/>
              <a:t>Generación de códigos únicos sin duplicidad </a:t>
            </a:r>
          </a:p>
          <a:p>
            <a:pPr>
              <a:buFont typeface="Wingdings" panose="05000000000000000000" pitchFamily="2" charset="2"/>
              <a:buChar char="Ø"/>
            </a:pPr>
            <a:r>
              <a:rPr lang="es-MX" dirty="0"/>
              <a:t>Confirmación correcta de asistencia </a:t>
            </a:r>
          </a:p>
          <a:p>
            <a:pPr>
              <a:buFont typeface="Wingdings" panose="05000000000000000000" pitchFamily="2" charset="2"/>
              <a:buChar char="Ø"/>
            </a:pPr>
            <a:r>
              <a:rPr lang="es-MX" dirty="0"/>
              <a:t>Funcionamiento del escáner QR en dispositivos móviles </a:t>
            </a:r>
          </a:p>
          <a:p>
            <a:pPr>
              <a:buFont typeface="Wingdings" panose="05000000000000000000" pitchFamily="2" charset="2"/>
              <a:buChar char="Ø"/>
            </a:pPr>
            <a:r>
              <a:rPr lang="es-MX" dirty="0"/>
              <a:t>Registro correcto de entrada de invitados </a:t>
            </a:r>
          </a:p>
          <a:p>
            <a:pPr>
              <a:buFont typeface="Wingdings" panose="05000000000000000000" pitchFamily="2" charset="2"/>
              <a:buChar char="Ø"/>
            </a:pPr>
            <a:r>
              <a:rPr lang="es-MX" dirty="0"/>
              <a:t>Actualización en tiempo real del </a:t>
            </a:r>
            <a:r>
              <a:rPr lang="es-MX" dirty="0" err="1"/>
              <a:t>dashboard</a:t>
            </a:r>
            <a:r>
              <a:rPr lang="es-MX" dirty="0"/>
              <a:t> </a:t>
            </a:r>
          </a:p>
          <a:p>
            <a:pPr>
              <a:buFont typeface="Wingdings" panose="05000000000000000000" pitchFamily="2" charset="2"/>
              <a:buChar char="Ø"/>
            </a:pPr>
            <a:r>
              <a:rPr lang="es-MX" dirty="0"/>
              <a:t>Manejo adecuado de errores (códigos inválidos y fallos de generación) </a:t>
            </a:r>
          </a:p>
          <a:p>
            <a:endParaRPr lang="es-MX" dirty="0"/>
          </a:p>
        </p:txBody>
      </p:sp>
    </p:spTree>
    <p:extLst>
      <p:ext uri="{BB962C8B-B14F-4D97-AF65-F5344CB8AC3E}">
        <p14:creationId xmlns:p14="http://schemas.microsoft.com/office/powerpoint/2010/main" val="1330140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B36C5CAC-3DC4-71E6-7667-CE8DEBA5A3E9}"/>
              </a:ext>
            </a:extLst>
          </p:cNvPr>
          <p:cNvSpPr txBox="1"/>
          <p:nvPr/>
        </p:nvSpPr>
        <p:spPr>
          <a:xfrm>
            <a:off x="1315453" y="5147192"/>
            <a:ext cx="3256547" cy="923330"/>
          </a:xfrm>
          <a:prstGeom prst="rect">
            <a:avLst/>
          </a:prstGeom>
          <a:noFill/>
        </p:spPr>
        <p:txBody>
          <a:bodyPr wrap="square">
            <a:spAutoFit/>
          </a:bodyPr>
          <a:lstStyle/>
          <a:p>
            <a:r>
              <a:rPr lang="es-MX" dirty="0"/>
              <a:t>Validación de acceso mediante escaneo de código QR o </a:t>
            </a:r>
            <a:r>
              <a:rPr lang="es-MX" dirty="0" err="1"/>
              <a:t>codigo</a:t>
            </a:r>
            <a:r>
              <a:rPr lang="es-MX" dirty="0"/>
              <a:t>.</a:t>
            </a:r>
            <a:br>
              <a:rPr lang="es-MX" dirty="0"/>
            </a:br>
            <a:endParaRPr lang="es-MX" dirty="0"/>
          </a:p>
        </p:txBody>
      </p:sp>
      <p:sp>
        <p:nvSpPr>
          <p:cNvPr id="9" name="CuadroTexto 8">
            <a:extLst>
              <a:ext uri="{FF2B5EF4-FFF2-40B4-BE49-F238E27FC236}">
                <a16:creationId xmlns:a16="http://schemas.microsoft.com/office/drawing/2014/main" id="{574F3E78-04AD-EF13-29A1-9E9FAE9B78F7}"/>
              </a:ext>
            </a:extLst>
          </p:cNvPr>
          <p:cNvSpPr txBox="1"/>
          <p:nvPr/>
        </p:nvSpPr>
        <p:spPr>
          <a:xfrm>
            <a:off x="5053263" y="5285691"/>
            <a:ext cx="2823411" cy="1200329"/>
          </a:xfrm>
          <a:prstGeom prst="rect">
            <a:avLst/>
          </a:prstGeom>
          <a:noFill/>
        </p:spPr>
        <p:txBody>
          <a:bodyPr wrap="square">
            <a:spAutoFit/>
          </a:bodyPr>
          <a:lstStyle/>
          <a:p>
            <a:r>
              <a:rPr lang="es-MX" dirty="0" err="1"/>
              <a:t>Dashboard</a:t>
            </a:r>
            <a:r>
              <a:rPr lang="es-MX" dirty="0"/>
              <a:t> con actualización en tiempo real.</a:t>
            </a:r>
            <a:br>
              <a:rPr lang="es-MX" dirty="0"/>
            </a:br>
            <a:endParaRPr lang="es-MX" dirty="0"/>
          </a:p>
        </p:txBody>
      </p:sp>
      <p:sp>
        <p:nvSpPr>
          <p:cNvPr id="11" name="CuadroTexto 10">
            <a:extLst>
              <a:ext uri="{FF2B5EF4-FFF2-40B4-BE49-F238E27FC236}">
                <a16:creationId xmlns:a16="http://schemas.microsoft.com/office/drawing/2014/main" id="{D962E694-80E5-07D4-B947-2C4CB964687C}"/>
              </a:ext>
            </a:extLst>
          </p:cNvPr>
          <p:cNvSpPr txBox="1"/>
          <p:nvPr/>
        </p:nvSpPr>
        <p:spPr>
          <a:xfrm>
            <a:off x="7780421" y="5516523"/>
            <a:ext cx="3769895" cy="369332"/>
          </a:xfrm>
          <a:prstGeom prst="rect">
            <a:avLst/>
          </a:prstGeom>
          <a:noFill/>
        </p:spPr>
        <p:txBody>
          <a:bodyPr wrap="square">
            <a:spAutoFit/>
          </a:bodyPr>
          <a:lstStyle/>
          <a:p>
            <a:r>
              <a:rPr lang="es-MX" dirty="0"/>
              <a:t>Manejo de error ante código inválido.</a:t>
            </a:r>
          </a:p>
        </p:txBody>
      </p:sp>
      <p:pic>
        <p:nvPicPr>
          <p:cNvPr id="3" name="Imagen 2">
            <a:extLst>
              <a:ext uri="{FF2B5EF4-FFF2-40B4-BE49-F238E27FC236}">
                <a16:creationId xmlns:a16="http://schemas.microsoft.com/office/drawing/2014/main" id="{7FE8DE58-277D-805E-760B-1F5CC933B5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4529" y="398048"/>
            <a:ext cx="2075446" cy="4612102"/>
          </a:xfrm>
          <a:prstGeom prst="rect">
            <a:avLst/>
          </a:prstGeom>
        </p:spPr>
      </p:pic>
      <p:pic>
        <p:nvPicPr>
          <p:cNvPr id="6" name="Imagen 5">
            <a:extLst>
              <a:ext uri="{FF2B5EF4-FFF2-40B4-BE49-F238E27FC236}">
                <a16:creationId xmlns:a16="http://schemas.microsoft.com/office/drawing/2014/main" id="{774FC309-DE3E-0CD4-2D15-04D8F225C0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1125" y="398049"/>
            <a:ext cx="2075446" cy="4612102"/>
          </a:xfrm>
          <a:prstGeom prst="rect">
            <a:avLst/>
          </a:prstGeom>
        </p:spPr>
      </p:pic>
      <p:pic>
        <p:nvPicPr>
          <p:cNvPr id="13" name="Imagen 12">
            <a:extLst>
              <a:ext uri="{FF2B5EF4-FFF2-40B4-BE49-F238E27FC236}">
                <a16:creationId xmlns:a16="http://schemas.microsoft.com/office/drawing/2014/main" id="{8FCCF1CB-99D2-5CFB-C377-538DFD34B170}"/>
              </a:ext>
            </a:extLst>
          </p:cNvPr>
          <p:cNvPicPr>
            <a:picLocks noChangeAspect="1"/>
          </p:cNvPicPr>
          <p:nvPr/>
        </p:nvPicPr>
        <p:blipFill>
          <a:blip r:embed="rId4"/>
          <a:stretch>
            <a:fillRect/>
          </a:stretch>
        </p:blipFill>
        <p:spPr>
          <a:xfrm>
            <a:off x="8327230" y="407573"/>
            <a:ext cx="2075446" cy="4612102"/>
          </a:xfrm>
          <a:prstGeom prst="rect">
            <a:avLst/>
          </a:prstGeom>
        </p:spPr>
      </p:pic>
    </p:spTree>
    <p:extLst>
      <p:ext uri="{BB962C8B-B14F-4D97-AF65-F5344CB8AC3E}">
        <p14:creationId xmlns:p14="http://schemas.microsoft.com/office/powerpoint/2010/main" val="2980300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9063A0-3AB3-9A91-048A-E7041B3B3B18}"/>
              </a:ext>
            </a:extLst>
          </p:cNvPr>
          <p:cNvSpPr>
            <a:spLocks noGrp="1"/>
          </p:cNvSpPr>
          <p:nvPr>
            <p:ph type="title"/>
          </p:nvPr>
        </p:nvSpPr>
        <p:spPr/>
        <p:txBody>
          <a:bodyPr/>
          <a:lstStyle/>
          <a:p>
            <a:r>
              <a:rPr lang="es-MX" dirty="0">
                <a:solidFill>
                  <a:schemeClr val="accent1"/>
                </a:solidFill>
              </a:rPr>
              <a:t>Capacitación a usuarios</a:t>
            </a:r>
          </a:p>
        </p:txBody>
      </p:sp>
      <p:sp>
        <p:nvSpPr>
          <p:cNvPr id="3" name="Marcador de contenido 2">
            <a:extLst>
              <a:ext uri="{FF2B5EF4-FFF2-40B4-BE49-F238E27FC236}">
                <a16:creationId xmlns:a16="http://schemas.microsoft.com/office/drawing/2014/main" id="{E28705BF-78B5-34C9-ABE0-151C0AF5B270}"/>
              </a:ext>
            </a:extLst>
          </p:cNvPr>
          <p:cNvSpPr>
            <a:spLocks noGrp="1"/>
          </p:cNvSpPr>
          <p:nvPr>
            <p:ph idx="1"/>
          </p:nvPr>
        </p:nvSpPr>
        <p:spPr/>
        <p:txBody>
          <a:bodyPr/>
          <a:lstStyle/>
          <a:p>
            <a:pPr marL="0" indent="0">
              <a:buNone/>
            </a:pPr>
            <a:r>
              <a:rPr lang="es-MX" dirty="0"/>
              <a:t>Se realizó capacitación diferenciada según el tipo de usuario:</a:t>
            </a:r>
          </a:p>
          <a:p>
            <a:pPr marL="0" indent="0">
              <a:buNone/>
            </a:pPr>
            <a:endParaRPr lang="es-MX" b="1" dirty="0"/>
          </a:p>
          <a:p>
            <a:pPr marL="0" indent="0">
              <a:buNone/>
            </a:pPr>
            <a:r>
              <a:rPr lang="es-MX" b="1" dirty="0"/>
              <a:t>Administrador</a:t>
            </a:r>
            <a:endParaRPr lang="es-MX" dirty="0"/>
          </a:p>
          <a:p>
            <a:pPr>
              <a:buFont typeface="Wingdings" panose="05000000000000000000" pitchFamily="2" charset="2"/>
              <a:buChar char="Ø"/>
            </a:pPr>
            <a:r>
              <a:rPr lang="es-MX" dirty="0"/>
              <a:t>Gestión de invitados </a:t>
            </a:r>
          </a:p>
          <a:p>
            <a:pPr>
              <a:buFont typeface="Wingdings" panose="05000000000000000000" pitchFamily="2" charset="2"/>
              <a:buChar char="Ø"/>
            </a:pPr>
            <a:r>
              <a:rPr lang="es-MX" dirty="0"/>
              <a:t>Creación de mesas </a:t>
            </a:r>
          </a:p>
          <a:p>
            <a:pPr>
              <a:buFont typeface="Wingdings" panose="05000000000000000000" pitchFamily="2" charset="2"/>
              <a:buChar char="Ø"/>
            </a:pPr>
            <a:r>
              <a:rPr lang="es-MX" dirty="0"/>
              <a:t>Generación de pases </a:t>
            </a:r>
          </a:p>
          <a:p>
            <a:pPr>
              <a:buFont typeface="Wingdings" panose="05000000000000000000" pitchFamily="2" charset="2"/>
              <a:buChar char="Ø"/>
            </a:pPr>
            <a:r>
              <a:rPr lang="es-MX" dirty="0"/>
              <a:t>Monitoreo del evento en tiempo real</a:t>
            </a:r>
          </a:p>
          <a:p>
            <a:endParaRPr lang="es-MX" dirty="0"/>
          </a:p>
        </p:txBody>
      </p:sp>
    </p:spTree>
    <p:extLst>
      <p:ext uri="{BB962C8B-B14F-4D97-AF65-F5344CB8AC3E}">
        <p14:creationId xmlns:p14="http://schemas.microsoft.com/office/powerpoint/2010/main" val="559355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3350C4-89CE-8FF9-4D31-6616191DD083}"/>
              </a:ext>
            </a:extLst>
          </p:cNvPr>
          <p:cNvSpPr>
            <a:spLocks noGrp="1"/>
          </p:cNvSpPr>
          <p:nvPr>
            <p:ph type="title"/>
          </p:nvPr>
        </p:nvSpPr>
        <p:spPr/>
        <p:txBody>
          <a:bodyPr/>
          <a:lstStyle/>
          <a:p>
            <a:r>
              <a:rPr lang="es-MX" b="1" dirty="0">
                <a:solidFill>
                  <a:schemeClr val="accent1"/>
                </a:solidFill>
              </a:rPr>
              <a:t>Personal de acceso</a:t>
            </a:r>
            <a:endParaRPr lang="es-MX" dirty="0">
              <a:solidFill>
                <a:schemeClr val="accent1"/>
              </a:solidFill>
            </a:endParaRPr>
          </a:p>
        </p:txBody>
      </p:sp>
      <p:sp>
        <p:nvSpPr>
          <p:cNvPr id="3" name="Marcador de contenido 2">
            <a:extLst>
              <a:ext uri="{FF2B5EF4-FFF2-40B4-BE49-F238E27FC236}">
                <a16:creationId xmlns:a16="http://schemas.microsoft.com/office/drawing/2014/main" id="{820CA47B-3E64-15C3-22E6-CFF74D5F6984}"/>
              </a:ext>
            </a:extLst>
          </p:cNvPr>
          <p:cNvSpPr>
            <a:spLocks noGrp="1"/>
          </p:cNvSpPr>
          <p:nvPr>
            <p:ph idx="1"/>
          </p:nvPr>
        </p:nvSpPr>
        <p:spPr/>
        <p:txBody>
          <a:bodyPr/>
          <a:lstStyle/>
          <a:p>
            <a:r>
              <a:rPr lang="es-MX" dirty="0"/>
              <a:t>Uso del escáner QR </a:t>
            </a:r>
          </a:p>
          <a:p>
            <a:r>
              <a:rPr lang="es-MX" dirty="0"/>
              <a:t>Validación de invitados </a:t>
            </a:r>
          </a:p>
          <a:p>
            <a:r>
              <a:rPr lang="es-MX" dirty="0"/>
              <a:t>Registro de entradas </a:t>
            </a:r>
          </a:p>
          <a:p>
            <a:r>
              <a:rPr lang="es-MX" dirty="0"/>
              <a:t>Uso de entrada manual por código</a:t>
            </a:r>
          </a:p>
          <a:p>
            <a:endParaRPr lang="es-MX" dirty="0"/>
          </a:p>
        </p:txBody>
      </p:sp>
    </p:spTree>
    <p:extLst>
      <p:ext uri="{BB962C8B-B14F-4D97-AF65-F5344CB8AC3E}">
        <p14:creationId xmlns:p14="http://schemas.microsoft.com/office/powerpoint/2010/main" val="2564185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826E009-A1AF-7A5A-70A6-C397999BAA36}"/>
              </a:ext>
            </a:extLst>
          </p:cNvPr>
          <p:cNvSpPr>
            <a:spLocks noGrp="1"/>
          </p:cNvSpPr>
          <p:nvPr>
            <p:ph idx="1"/>
          </p:nvPr>
        </p:nvSpPr>
        <p:spPr/>
        <p:txBody>
          <a:bodyPr/>
          <a:lstStyle/>
          <a:p>
            <a:pPr marL="0" indent="0">
              <a:buNone/>
            </a:pPr>
            <a:r>
              <a:rPr lang="es-MX" sz="4400" dirty="0">
                <a:solidFill>
                  <a:schemeClr val="accent1"/>
                </a:solidFill>
              </a:rPr>
              <a:t>Invitados</a:t>
            </a:r>
          </a:p>
          <a:p>
            <a:pPr>
              <a:buFont typeface="Wingdings" panose="05000000000000000000" pitchFamily="2" charset="2"/>
              <a:buChar char="Ø"/>
            </a:pPr>
            <a:r>
              <a:rPr lang="es-MX" dirty="0"/>
              <a:t>Recepción de código vía WhatsApp </a:t>
            </a:r>
          </a:p>
          <a:p>
            <a:pPr>
              <a:buFont typeface="Wingdings" panose="05000000000000000000" pitchFamily="2" charset="2"/>
              <a:buChar char="Ø"/>
            </a:pPr>
            <a:r>
              <a:rPr lang="es-MX" dirty="0"/>
              <a:t>Confirmación de asistencia </a:t>
            </a:r>
          </a:p>
          <a:p>
            <a:pPr>
              <a:buFont typeface="Wingdings" panose="05000000000000000000" pitchFamily="2" charset="2"/>
              <a:buChar char="Ø"/>
            </a:pPr>
            <a:r>
              <a:rPr lang="es-MX" dirty="0"/>
              <a:t>Descarga de invitación digital </a:t>
            </a:r>
          </a:p>
          <a:p>
            <a:pPr>
              <a:buFont typeface="Wingdings" panose="05000000000000000000" pitchFamily="2" charset="2"/>
              <a:buChar char="Ø"/>
            </a:pPr>
            <a:r>
              <a:rPr lang="es-MX" dirty="0"/>
              <a:t>Presentación del código QR en el evento</a:t>
            </a:r>
          </a:p>
          <a:p>
            <a:endParaRPr lang="es-MX" dirty="0"/>
          </a:p>
        </p:txBody>
      </p:sp>
    </p:spTree>
    <p:extLst>
      <p:ext uri="{BB962C8B-B14F-4D97-AF65-F5344CB8AC3E}">
        <p14:creationId xmlns:p14="http://schemas.microsoft.com/office/powerpoint/2010/main" val="2540175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E4E42B-7750-30F3-8084-A2BFF9C48954}"/>
              </a:ext>
            </a:extLst>
          </p:cNvPr>
          <p:cNvSpPr>
            <a:spLocks noGrp="1"/>
          </p:cNvSpPr>
          <p:nvPr>
            <p:ph type="title"/>
          </p:nvPr>
        </p:nvSpPr>
        <p:spPr/>
        <p:txBody>
          <a:bodyPr/>
          <a:lstStyle/>
          <a:p>
            <a:r>
              <a:rPr lang="es-MX" b="1" dirty="0">
                <a:solidFill>
                  <a:schemeClr val="accent1"/>
                </a:solidFill>
              </a:rPr>
              <a:t>Documentación proporcionada</a:t>
            </a:r>
            <a:endParaRPr lang="es-MX" dirty="0">
              <a:solidFill>
                <a:schemeClr val="accent1"/>
              </a:solidFill>
            </a:endParaRPr>
          </a:p>
        </p:txBody>
      </p:sp>
      <p:sp>
        <p:nvSpPr>
          <p:cNvPr id="3" name="Marcador de contenido 2">
            <a:extLst>
              <a:ext uri="{FF2B5EF4-FFF2-40B4-BE49-F238E27FC236}">
                <a16:creationId xmlns:a16="http://schemas.microsoft.com/office/drawing/2014/main" id="{AE99A424-E0E5-8570-7308-0A1CE658D5CC}"/>
              </a:ext>
            </a:extLst>
          </p:cNvPr>
          <p:cNvSpPr>
            <a:spLocks noGrp="1"/>
          </p:cNvSpPr>
          <p:nvPr>
            <p:ph idx="1"/>
          </p:nvPr>
        </p:nvSpPr>
        <p:spPr>
          <a:xfrm>
            <a:off x="838200" y="1825625"/>
            <a:ext cx="10515600" cy="4667250"/>
          </a:xfrm>
        </p:spPr>
        <p:txBody>
          <a:bodyPr>
            <a:normAutofit fontScale="92500"/>
          </a:bodyPr>
          <a:lstStyle/>
          <a:p>
            <a:pPr>
              <a:buFont typeface="Wingdings" panose="05000000000000000000" pitchFamily="2" charset="2"/>
              <a:buChar char="Ø"/>
            </a:pPr>
            <a:r>
              <a:rPr lang="es-MX" dirty="0"/>
              <a:t>Durante la implantación se entregó un manual de usuario que describe el funcionamiento del sistema y su uso por cada tipo de usuario.</a:t>
            </a:r>
          </a:p>
          <a:p>
            <a:pPr>
              <a:buFont typeface="Wingdings" panose="05000000000000000000" pitchFamily="2" charset="2"/>
              <a:buChar char="Ø"/>
            </a:pPr>
            <a:r>
              <a:rPr lang="es-MX" dirty="0"/>
              <a:t>De acuerdo con la documentación proporcionada , el sistema cuenta con:</a:t>
            </a:r>
          </a:p>
          <a:p>
            <a:pPr>
              <a:buFont typeface="Wingdings" panose="05000000000000000000" pitchFamily="2" charset="2"/>
              <a:buChar char="Ø"/>
            </a:pPr>
            <a:r>
              <a:rPr lang="es-MX" dirty="0"/>
              <a:t>Acceso mediante diferentes </a:t>
            </a:r>
            <a:r>
              <a:rPr lang="es-MX" dirty="0" err="1"/>
              <a:t>URLs</a:t>
            </a:r>
            <a:r>
              <a:rPr lang="es-MX" dirty="0"/>
              <a:t> según el tipo de usuario </a:t>
            </a:r>
          </a:p>
          <a:p>
            <a:pPr>
              <a:buFont typeface="Wingdings" panose="05000000000000000000" pitchFamily="2" charset="2"/>
              <a:buChar char="Ø"/>
            </a:pPr>
            <a:r>
              <a:rPr lang="es-MX" dirty="0"/>
              <a:t>Credenciales para administrador y personal de acceso </a:t>
            </a:r>
          </a:p>
          <a:p>
            <a:pPr>
              <a:buFont typeface="Wingdings" panose="05000000000000000000" pitchFamily="2" charset="2"/>
              <a:buChar char="Ø"/>
            </a:pPr>
            <a:r>
              <a:rPr lang="es-MX" dirty="0"/>
              <a:t>Instrucciones claras para el uso del panel administrativo </a:t>
            </a:r>
          </a:p>
          <a:p>
            <a:pPr>
              <a:buFont typeface="Wingdings" panose="05000000000000000000" pitchFamily="2" charset="2"/>
              <a:buChar char="Ø"/>
            </a:pPr>
            <a:r>
              <a:rPr lang="es-MX" dirty="0"/>
              <a:t>Procedimiento para el escaneo de códigos QR </a:t>
            </a:r>
          </a:p>
          <a:p>
            <a:pPr>
              <a:buFont typeface="Wingdings" panose="05000000000000000000" pitchFamily="2" charset="2"/>
              <a:buChar char="Ø"/>
            </a:pPr>
            <a:r>
              <a:rPr lang="es-MX" dirty="0"/>
              <a:t>Guía de confirmación de asistencia para invitados </a:t>
            </a:r>
          </a:p>
          <a:p>
            <a:pPr>
              <a:buFont typeface="Wingdings" panose="05000000000000000000" pitchFamily="2" charset="2"/>
              <a:buChar char="Ø"/>
            </a:pPr>
            <a:r>
              <a:rPr lang="es-MX" dirty="0"/>
              <a:t>Solución a problemas comunes del sistema</a:t>
            </a:r>
          </a:p>
          <a:p>
            <a:pPr marL="0" indent="0">
              <a:buNone/>
            </a:pPr>
            <a:endParaRPr lang="es-MX" dirty="0"/>
          </a:p>
        </p:txBody>
      </p:sp>
    </p:spTree>
    <p:extLst>
      <p:ext uri="{BB962C8B-B14F-4D97-AF65-F5344CB8AC3E}">
        <p14:creationId xmlns:p14="http://schemas.microsoft.com/office/powerpoint/2010/main" val="4277378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C59902-3016-860B-F6A0-524606C7C7C3}"/>
              </a:ext>
            </a:extLst>
          </p:cNvPr>
          <p:cNvSpPr>
            <a:spLocks noGrp="1"/>
          </p:cNvSpPr>
          <p:nvPr>
            <p:ph type="title"/>
          </p:nvPr>
        </p:nvSpPr>
        <p:spPr/>
        <p:txBody>
          <a:bodyPr/>
          <a:lstStyle/>
          <a:p>
            <a:r>
              <a:rPr lang="es-MX" b="1" dirty="0">
                <a:solidFill>
                  <a:schemeClr val="accent1"/>
                </a:solidFill>
              </a:rPr>
              <a:t>Resultados obtenidos</a:t>
            </a:r>
            <a:endParaRPr lang="es-MX" dirty="0">
              <a:solidFill>
                <a:schemeClr val="accent1"/>
              </a:solidFill>
            </a:endParaRPr>
          </a:p>
        </p:txBody>
      </p:sp>
      <p:sp>
        <p:nvSpPr>
          <p:cNvPr id="3" name="Marcador de contenido 2">
            <a:extLst>
              <a:ext uri="{FF2B5EF4-FFF2-40B4-BE49-F238E27FC236}">
                <a16:creationId xmlns:a16="http://schemas.microsoft.com/office/drawing/2014/main" id="{E88552EF-1EB4-8F6B-B793-72AD32978A23}"/>
              </a:ext>
            </a:extLst>
          </p:cNvPr>
          <p:cNvSpPr>
            <a:spLocks noGrp="1"/>
          </p:cNvSpPr>
          <p:nvPr>
            <p:ph idx="1"/>
          </p:nvPr>
        </p:nvSpPr>
        <p:spPr/>
        <p:txBody>
          <a:bodyPr/>
          <a:lstStyle/>
          <a:p>
            <a:r>
              <a:rPr lang="es-MX" dirty="0"/>
              <a:t>El sistema </a:t>
            </a:r>
            <a:r>
              <a:rPr lang="es-MX" dirty="0" err="1"/>
              <a:t>EventControl</a:t>
            </a:r>
            <a:r>
              <a:rPr lang="es-MX" dirty="0"/>
              <a:t> funcionó correctamente durante la simulación, cumpliendo con todos los requerimientos establecidos.</a:t>
            </a:r>
          </a:p>
          <a:p>
            <a:r>
              <a:rPr lang="es-MX" dirty="0"/>
              <a:t>Se validó el flujo completo del sistema sin presentar errores críticos. Asimismo, se identificaron áreas de mejora menores, como la optimización del tiempo de respuesta del escáner QR y la importancia de contar con un método alternativo de acceso manual.</a:t>
            </a:r>
          </a:p>
          <a:p>
            <a:r>
              <a:rPr lang="es-MX" dirty="0"/>
              <a:t>El sistema demostró ser estable, confiable y adecuado para su implementación en un entorno real</a:t>
            </a:r>
          </a:p>
          <a:p>
            <a:endParaRPr lang="es-MX" dirty="0"/>
          </a:p>
        </p:txBody>
      </p:sp>
    </p:spTree>
    <p:extLst>
      <p:ext uri="{BB962C8B-B14F-4D97-AF65-F5344CB8AC3E}">
        <p14:creationId xmlns:p14="http://schemas.microsoft.com/office/powerpoint/2010/main" val="615500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C7D1B6-3B6E-63EC-0CDC-CA61B157781A}"/>
              </a:ext>
            </a:extLst>
          </p:cNvPr>
          <p:cNvSpPr>
            <a:spLocks noGrp="1"/>
          </p:cNvSpPr>
          <p:nvPr>
            <p:ph type="title"/>
          </p:nvPr>
        </p:nvSpPr>
        <p:spPr/>
        <p:txBody>
          <a:bodyPr/>
          <a:lstStyle/>
          <a:p>
            <a:r>
              <a:rPr lang="es-MX" b="1" dirty="0">
                <a:solidFill>
                  <a:schemeClr val="accent1"/>
                </a:solidFill>
              </a:rPr>
              <a:t>Evidencia visual</a:t>
            </a:r>
            <a:endParaRPr lang="es-MX" dirty="0">
              <a:solidFill>
                <a:schemeClr val="accent1"/>
              </a:solidFill>
            </a:endParaRPr>
          </a:p>
        </p:txBody>
      </p:sp>
      <p:sp>
        <p:nvSpPr>
          <p:cNvPr id="3" name="Marcador de contenido 2">
            <a:extLst>
              <a:ext uri="{FF2B5EF4-FFF2-40B4-BE49-F238E27FC236}">
                <a16:creationId xmlns:a16="http://schemas.microsoft.com/office/drawing/2014/main" id="{FDEEB7DD-6693-5BCB-A6E6-7220CA48BC3E}"/>
              </a:ext>
            </a:extLst>
          </p:cNvPr>
          <p:cNvSpPr>
            <a:spLocks noGrp="1"/>
          </p:cNvSpPr>
          <p:nvPr>
            <p:ph idx="1"/>
          </p:nvPr>
        </p:nvSpPr>
        <p:spPr/>
        <p:txBody>
          <a:bodyPr>
            <a:normAutofit fontScale="85000" lnSpcReduction="20000"/>
          </a:bodyPr>
          <a:lstStyle/>
          <a:p>
            <a:pPr marL="0" indent="0">
              <a:buNone/>
            </a:pPr>
            <a:r>
              <a:rPr lang="es-MX" dirty="0"/>
              <a:t>Durante la ejecución de la actividad se recopilaron evidencias visuales que permiten comprobar el funcionamiento del sistema en diferentes escenarios.</a:t>
            </a:r>
          </a:p>
          <a:p>
            <a:pPr>
              <a:buFont typeface="Wingdings" panose="05000000000000000000" pitchFamily="2" charset="2"/>
              <a:buChar char="Ø"/>
            </a:pPr>
            <a:r>
              <a:rPr lang="es-MX" dirty="0"/>
              <a:t>Entre las principales evidencias se encuentran:</a:t>
            </a:r>
          </a:p>
          <a:p>
            <a:pPr>
              <a:buFont typeface="Wingdings" panose="05000000000000000000" pitchFamily="2" charset="2"/>
              <a:buChar char="Ø"/>
            </a:pPr>
            <a:r>
              <a:rPr lang="es-MX" dirty="0"/>
              <a:t>Creación de pases y generación de códigos de acceso </a:t>
            </a:r>
          </a:p>
          <a:p>
            <a:pPr>
              <a:buFont typeface="Wingdings" panose="05000000000000000000" pitchFamily="2" charset="2"/>
              <a:buChar char="Ø"/>
            </a:pPr>
            <a:r>
              <a:rPr lang="es-MX" dirty="0"/>
              <a:t>Confirmación de asistencia mediante la plataforma </a:t>
            </a:r>
          </a:p>
          <a:p>
            <a:pPr>
              <a:buFont typeface="Wingdings" panose="05000000000000000000" pitchFamily="2" charset="2"/>
              <a:buChar char="Ø"/>
            </a:pPr>
            <a:r>
              <a:rPr lang="es-MX" dirty="0"/>
              <a:t>Flujo de comunicación a través de WhatsApp </a:t>
            </a:r>
          </a:p>
          <a:p>
            <a:pPr>
              <a:buFont typeface="Wingdings" panose="05000000000000000000" pitchFamily="2" charset="2"/>
              <a:buChar char="Ø"/>
            </a:pPr>
            <a:r>
              <a:rPr lang="es-MX" dirty="0"/>
              <a:t>Validación de acceso mediante código QR </a:t>
            </a:r>
          </a:p>
          <a:p>
            <a:pPr>
              <a:buFont typeface="Wingdings" panose="05000000000000000000" pitchFamily="2" charset="2"/>
              <a:buChar char="Ø"/>
            </a:pPr>
            <a:r>
              <a:rPr lang="es-MX" dirty="0"/>
              <a:t>Manejo de errores del sistema </a:t>
            </a:r>
          </a:p>
          <a:p>
            <a:pPr>
              <a:buFont typeface="Wingdings" panose="05000000000000000000" pitchFamily="2" charset="2"/>
              <a:buChar char="Ø"/>
            </a:pPr>
            <a:r>
              <a:rPr lang="es-MX" dirty="0"/>
              <a:t>Visualización del </a:t>
            </a:r>
            <a:r>
              <a:rPr lang="es-MX" dirty="0" err="1"/>
              <a:t>dashboard</a:t>
            </a:r>
            <a:r>
              <a:rPr lang="es-MX" dirty="0"/>
              <a:t> en tiempo real </a:t>
            </a:r>
          </a:p>
          <a:p>
            <a:pPr>
              <a:buFont typeface="Wingdings" panose="05000000000000000000" pitchFamily="2" charset="2"/>
              <a:buChar char="Ø"/>
            </a:pPr>
            <a:r>
              <a:rPr lang="es-MX" dirty="0"/>
              <a:t>Registro de información en la base de datos </a:t>
            </a:r>
          </a:p>
          <a:p>
            <a:pPr marL="0" indent="0">
              <a:buNone/>
            </a:pPr>
            <a:r>
              <a:rPr lang="es-MX" dirty="0"/>
              <a:t>Estas evidencias demuestran que el sistema fue probado en condiciones reales, garantizando su correcto funcionamiento.</a:t>
            </a:r>
          </a:p>
          <a:p>
            <a:endParaRPr lang="es-MX" dirty="0"/>
          </a:p>
        </p:txBody>
      </p:sp>
    </p:spTree>
    <p:extLst>
      <p:ext uri="{BB962C8B-B14F-4D97-AF65-F5344CB8AC3E}">
        <p14:creationId xmlns:p14="http://schemas.microsoft.com/office/powerpoint/2010/main" val="2560191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AC84CF-39AB-5393-3A1E-7F5112FBB577}"/>
              </a:ext>
            </a:extLst>
          </p:cNvPr>
          <p:cNvSpPr>
            <a:spLocks noGrp="1"/>
          </p:cNvSpPr>
          <p:nvPr>
            <p:ph type="title"/>
          </p:nvPr>
        </p:nvSpPr>
        <p:spPr/>
        <p:txBody>
          <a:bodyPr/>
          <a:lstStyle/>
          <a:p>
            <a:r>
              <a:rPr lang="es-MX" b="1" dirty="0">
                <a:solidFill>
                  <a:schemeClr val="accent1"/>
                </a:solidFill>
              </a:rPr>
              <a:t>Conclusión</a:t>
            </a:r>
            <a:endParaRPr lang="es-MX" dirty="0">
              <a:solidFill>
                <a:schemeClr val="accent1"/>
              </a:solidFill>
            </a:endParaRPr>
          </a:p>
        </p:txBody>
      </p:sp>
      <p:sp>
        <p:nvSpPr>
          <p:cNvPr id="3" name="Marcador de contenido 2">
            <a:extLst>
              <a:ext uri="{FF2B5EF4-FFF2-40B4-BE49-F238E27FC236}">
                <a16:creationId xmlns:a16="http://schemas.microsoft.com/office/drawing/2014/main" id="{D5BE3B74-FE14-BD62-CDF7-0BAE08CDD648}"/>
              </a:ext>
            </a:extLst>
          </p:cNvPr>
          <p:cNvSpPr>
            <a:spLocks noGrp="1"/>
          </p:cNvSpPr>
          <p:nvPr>
            <p:ph idx="1"/>
          </p:nvPr>
        </p:nvSpPr>
        <p:spPr/>
        <p:txBody>
          <a:bodyPr>
            <a:normAutofit/>
          </a:bodyPr>
          <a:lstStyle/>
          <a:p>
            <a:pPr marL="0" indent="0" algn="just">
              <a:buNone/>
            </a:pPr>
            <a:r>
              <a:rPr lang="es-MX" dirty="0"/>
              <a:t>La realización de esta actividad permitió validar el funcionamiento del sistema </a:t>
            </a:r>
            <a:r>
              <a:rPr lang="es-MX" dirty="0" err="1"/>
              <a:t>EventControl</a:t>
            </a:r>
            <a:r>
              <a:rPr lang="es-MX" dirty="0"/>
              <a:t> en un entorno práctico, demostrando su capacidad para operar en condiciones reales.</a:t>
            </a:r>
          </a:p>
          <a:p>
            <a:pPr marL="0" indent="0" algn="just">
              <a:buNone/>
            </a:pPr>
            <a:r>
              <a:rPr lang="es-MX" dirty="0"/>
              <a:t>Se comprobó que el sistema es capaz de gestionar invitados, generar códigos de acceso y controlar entradas de manera eficiente. Asimismo, se evidenció la importancia de la implantación del sistema y la capacitación de los usuarios como factores clave para el éxito de su implementación.</a:t>
            </a:r>
          </a:p>
          <a:p>
            <a:pPr marL="0" indent="0" algn="just">
              <a:buNone/>
            </a:pPr>
            <a:r>
              <a:rPr lang="es-MX" dirty="0"/>
              <a:t>El sistema cumple con los objetivos establecidos y se considera apto para su uso en eventos reales.</a:t>
            </a:r>
          </a:p>
          <a:p>
            <a:endParaRPr lang="es-MX" dirty="0"/>
          </a:p>
        </p:txBody>
      </p:sp>
    </p:spTree>
    <p:extLst>
      <p:ext uri="{BB962C8B-B14F-4D97-AF65-F5344CB8AC3E}">
        <p14:creationId xmlns:p14="http://schemas.microsoft.com/office/powerpoint/2010/main" val="3352764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419F598-6DC5-2595-D0E3-617403F352E6}"/>
              </a:ext>
            </a:extLst>
          </p:cNvPr>
          <p:cNvSpPr txBox="1"/>
          <p:nvPr/>
        </p:nvSpPr>
        <p:spPr>
          <a:xfrm>
            <a:off x="1352550" y="1335574"/>
            <a:ext cx="7800975" cy="2482603"/>
          </a:xfrm>
          <a:prstGeom prst="rect">
            <a:avLst/>
          </a:prstGeom>
          <a:noFill/>
        </p:spPr>
        <p:txBody>
          <a:bodyPr wrap="square">
            <a:spAutoFit/>
          </a:bodyPr>
          <a:lstStyle/>
          <a:p>
            <a:pPr>
              <a:lnSpc>
                <a:spcPct val="107000"/>
              </a:lnSpc>
              <a:spcBef>
                <a:spcPts val="1800"/>
              </a:spcBef>
              <a:spcAft>
                <a:spcPts val="400"/>
              </a:spcAft>
              <a:buNone/>
            </a:pPr>
            <a:r>
              <a:rPr lang="en-US" sz="2000" b="1" u="sng" kern="100" dirty="0">
                <a:solidFill>
                  <a:srgbClr val="2F5496"/>
                </a:solidFill>
                <a:effectLst/>
                <a:latin typeface="Arial" panose="020B0604020202020204" pitchFamily="34" charset="0"/>
                <a:ea typeface="Times New Roman" panose="02020603050405020304" pitchFamily="18" charset="0"/>
                <a:cs typeface="Times New Roman" panose="02020603050405020304" pitchFamily="18" charset="0"/>
              </a:rPr>
              <a:t>Fuentes De Informacion</a:t>
            </a:r>
            <a:endParaRPr lang="es-MX" sz="2000" b="1" kern="100" dirty="0">
              <a:solidFill>
                <a:srgbClr val="2F5496"/>
              </a:solidFill>
              <a:effectLst/>
              <a:latin typeface="Arial" panose="020B06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buNone/>
            </a:pPr>
            <a:r>
              <a:rPr lang="en-US" sz="1800" kern="100" dirty="0">
                <a:effectLst/>
                <a:latin typeface="Arial" panose="020B0604020202020204" pitchFamily="34" charset="0"/>
                <a:ea typeface="Calibri" panose="020F0502020204030204" pitchFamily="34" charset="0"/>
                <a:cs typeface="Times New Roman" panose="02020603050405020304" pitchFamily="18" charset="0"/>
              </a:rPr>
              <a:t> </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Ø"/>
            </a:pPr>
            <a:r>
              <a:rPr lang="es-MX" dirty="0" err="1"/>
              <a:t>EventControl</a:t>
            </a:r>
            <a:r>
              <a:rPr lang="es-MX" dirty="0"/>
              <a:t>  </a:t>
            </a:r>
            <a:r>
              <a:rPr lang="es-MX" kern="100" dirty="0">
                <a:latin typeface="Arial" panose="020B0604020202020204" pitchFamily="34" charset="0"/>
                <a:ea typeface="Calibri" panose="020F0502020204030204" pitchFamily="34" charset="0"/>
                <a:cs typeface="Times New Roman" panose="02020603050405020304" pitchFamily="18" charset="0"/>
              </a:rPr>
              <a:t>IDS Repositorio de GitHub. </a:t>
            </a:r>
          </a:p>
          <a:p>
            <a:r>
              <a:rPr lang="es-MX" dirty="0">
                <a:hlinkClick r:id="rId2"/>
              </a:rPr>
              <a:t>https://github.com/rafaelrav8770/eventcontrol.git</a:t>
            </a:r>
            <a:endParaRPr lang="es-MX" dirty="0"/>
          </a:p>
          <a:p>
            <a:endParaRPr lang="es-MX" dirty="0"/>
          </a:p>
          <a:p>
            <a:pPr marL="342900" lvl="0" indent="-342900">
              <a:lnSpc>
                <a:spcPct val="150000"/>
              </a:lnSpc>
              <a:spcAft>
                <a:spcPts val="800"/>
              </a:spcAft>
              <a:buFont typeface="Wingdings" panose="05000000000000000000" pitchFamily="2" charset="2"/>
              <a:buChar char=""/>
            </a:pPr>
            <a:r>
              <a:rPr lang="es-MX" sz="1800" kern="100" dirty="0">
                <a:effectLst/>
                <a:latin typeface="Arial" panose="020B0604020202020204" pitchFamily="34" charset="0"/>
                <a:ea typeface="Calibri" panose="020F0502020204030204" pitchFamily="34" charset="0"/>
                <a:cs typeface="Times New Roman" panose="02020603050405020304" pitchFamily="18" charset="0"/>
              </a:rPr>
              <a:t>Rafaelrav8770. IDS Repositorio de GitHub.</a:t>
            </a:r>
            <a:br>
              <a:rPr lang="es-MX" sz="1800" kern="100" dirty="0">
                <a:effectLst/>
                <a:latin typeface="Arial" panose="020B0604020202020204" pitchFamily="34" charset="0"/>
                <a:ea typeface="Calibri" panose="020F0502020204030204" pitchFamily="34" charset="0"/>
                <a:cs typeface="Times New Roman" panose="02020603050405020304" pitchFamily="18" charset="0"/>
              </a:rPr>
            </a:br>
            <a:r>
              <a:rPr lang="es-MX" sz="1800" strike="noStrike" kern="100"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3"/>
              </a:rPr>
              <a:t>https://github.com/rafaelrav8770/IDS.git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0086316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754</TotalTime>
  <Words>1112</Words>
  <Application>Microsoft Office PowerPoint</Application>
  <PresentationFormat>Panorámica</PresentationFormat>
  <Paragraphs>127</Paragraphs>
  <Slides>19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Calibri</vt:lpstr>
      <vt:lpstr>Calibri Light</vt:lpstr>
      <vt:lpstr>Wingdings</vt:lpstr>
      <vt:lpstr>Tema de Office</vt:lpstr>
      <vt:lpstr>Presentación de PowerPoint</vt:lpstr>
      <vt:lpstr>Presentación de PowerPoint</vt:lpstr>
      <vt:lpstr>Presentación de PowerPoint</vt:lpstr>
      <vt:lpstr>justificación</vt:lpstr>
      <vt:lpstr>Descripción del sistema EventControl</vt:lpstr>
      <vt:lpstr>Presentación de PowerPoint</vt:lpstr>
      <vt:lpstr>Preparación del sistema</vt:lpstr>
      <vt:lpstr>Simulación del evento</vt:lpstr>
      <vt:lpstr>Presentación de PowerPoint</vt:lpstr>
      <vt:lpstr>Validación del funcionamiento</vt:lpstr>
      <vt:lpstr>Presentación de PowerPoint</vt:lpstr>
      <vt:lpstr>Capacitación a usuarios</vt:lpstr>
      <vt:lpstr>Personal de acceso</vt:lpstr>
      <vt:lpstr>Presentación de PowerPoint</vt:lpstr>
      <vt:lpstr>Documentación proporcionada</vt:lpstr>
      <vt:lpstr>Resultados obtenidos</vt:lpstr>
      <vt:lpstr>Evidencia visual</vt:lpstr>
      <vt:lpstr>Conclusión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42</cp:revision>
  <dcterms:created xsi:type="dcterms:W3CDTF">2026-02-14T13:39:49Z</dcterms:created>
  <dcterms:modified xsi:type="dcterms:W3CDTF">2026-03-27T02:45:11Z</dcterms:modified>
</cp:coreProperties>
</file>