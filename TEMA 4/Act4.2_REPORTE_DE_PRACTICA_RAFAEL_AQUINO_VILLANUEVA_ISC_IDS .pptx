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63" r:id="rId3"/>
    <p:sldId id="258" r:id="rId4"/>
    <p:sldId id="303" r:id="rId5"/>
    <p:sldId id="306" r:id="rId6"/>
    <p:sldId id="307" r:id="rId7"/>
    <p:sldId id="304" r:id="rId8"/>
    <p:sldId id="314" r:id="rId9"/>
    <p:sldId id="315" r:id="rId10"/>
    <p:sldId id="325" r:id="rId11"/>
    <p:sldId id="323" r:id="rId12"/>
    <p:sldId id="324" r:id="rId13"/>
    <p:sldId id="316" r:id="rId14"/>
    <p:sldId id="327" r:id="rId15"/>
    <p:sldId id="326" r:id="rId16"/>
    <p:sldId id="320" r:id="rId17"/>
    <p:sldId id="329" r:id="rId18"/>
    <p:sldId id="321" r:id="rId19"/>
    <p:sldId id="330" r:id="rId20"/>
    <p:sldId id="322" r:id="rId21"/>
    <p:sldId id="318" r:id="rId22"/>
    <p:sldId id="319" r:id="rId23"/>
    <p:sldId id="317" r:id="rId24"/>
    <p:sldId id="332" r:id="rId25"/>
    <p:sldId id="331" r:id="rId26"/>
    <p:sldId id="260" r:id="rId27"/>
    <p:sldId id="333" r:id="rId2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7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26/03/2026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github.com/rafaelrav8770/IDS.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1209675" y="1824715"/>
            <a:ext cx="8667750" cy="1627561"/>
          </a:xfrm>
          <a:prstGeom prst="rect">
            <a:avLst/>
          </a:prstGeom>
          <a:noFill/>
        </p:spPr>
        <p:txBody>
          <a:bodyPr wrap="square">
            <a:spAutoFit/>
          </a:bodyPr>
          <a:lstStyle/>
          <a:p>
            <a:pPr algn="ctr">
              <a:lnSpc>
                <a:spcPct val="107000"/>
              </a:lnSpc>
              <a:spcAft>
                <a:spcPts val="800"/>
              </a:spcAft>
              <a:buNone/>
            </a:pPr>
            <a:r>
              <a:rPr lang="es-MX" b="1" kern="0" dirty="0">
                <a:latin typeface="Arial" panose="020B0604020202020204" pitchFamily="34" charset="0"/>
                <a:ea typeface="Arial" panose="020B0604020202020204" pitchFamily="34" charset="0"/>
                <a:cs typeface="Arial" panose="020B0604020202020204" pitchFamily="34" charset="0"/>
              </a:rPr>
              <a:t>INGENIERIA DE SOFTWARE</a:t>
            </a: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a:t>
            </a:r>
            <a:r>
              <a:rPr lang="es-MX" sz="2000" b="1" kern="0" dirty="0">
                <a:latin typeface="Arial" panose="020B0604020202020204" pitchFamily="34" charset="0"/>
                <a:ea typeface="Arial" panose="020B0604020202020204" pitchFamily="34" charset="0"/>
                <a:cs typeface="Arial" panose="020B0604020202020204" pitchFamily="34" charset="0"/>
              </a:rPr>
              <a:t>4</a:t>
            </a:r>
            <a:r>
              <a:rPr lang="es-MX" sz="2000" b="1" kern="0" dirty="0">
                <a:effectLst/>
                <a:latin typeface="Arial" panose="020B0604020202020204" pitchFamily="34" charset="0"/>
                <a:ea typeface="Arial" panose="020B0604020202020204" pitchFamily="34" charset="0"/>
                <a:cs typeface="Arial" panose="020B0604020202020204" pitchFamily="34" charset="0"/>
              </a:rPr>
              <a:t>.2 –</a:t>
            </a:r>
            <a:r>
              <a:rPr lang="es-MX" sz="2000" b="1" kern="0" dirty="0">
                <a:latin typeface="Arial" panose="020B0604020202020204" pitchFamily="34" charset="0"/>
                <a:cs typeface="Arial" panose="020B0604020202020204" pitchFamily="34" charset="0"/>
              </a:rPr>
              <a:t>REPORTE DE </a:t>
            </a:r>
            <a:r>
              <a:rPr lang="es-MX" sz="2000" b="1" kern="0">
                <a:latin typeface="Arial" panose="020B0604020202020204" pitchFamily="34" charset="0"/>
                <a:cs typeface="Arial" panose="020B0604020202020204" pitchFamily="34" charset="0"/>
              </a:rPr>
              <a:t>PRACTICA </a:t>
            </a:r>
            <a:r>
              <a:rPr lang="es-MX" sz="2000" b="1" kern="0" dirty="0">
                <a:latin typeface="Arial" panose="020B0604020202020204" pitchFamily="34" charset="0"/>
                <a:cs typeface="Arial" panose="020B0604020202020204" pitchFamily="34" charset="0"/>
              </a:rPr>
              <a:t>	</a:t>
            </a:r>
          </a:p>
          <a:p>
            <a:pPr algn="ctr">
              <a:lnSpc>
                <a:spcPct val="107000"/>
              </a:lnSpc>
              <a:spcAft>
                <a:spcPts val="800"/>
              </a:spcAft>
              <a:buNone/>
            </a:pP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3094276835"/>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SEXTO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3615904" y="3275886"/>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a:effectLst/>
                <a:latin typeface="Arial" panose="020B0604020202020204" pitchFamily="34" charset="0"/>
                <a:ea typeface="Times New Roman" panose="02020603050405020304" pitchFamily="18" charset="0"/>
                <a:cs typeface="Arial" panose="020B0604020202020204" pitchFamily="34" charset="0"/>
              </a:rPr>
              <a:t>24 </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DE </a:t>
            </a:r>
            <a:r>
              <a:rPr lang="es-MX" sz="2000" b="1" kern="0" dirty="0">
                <a:latin typeface="Arial" panose="020B0604020202020204" pitchFamily="34" charset="0"/>
                <a:ea typeface="Times New Roman" panose="02020603050405020304" pitchFamily="18" charset="0"/>
                <a:cs typeface="Arial" panose="020B0604020202020204" pitchFamily="34" charset="0"/>
              </a:rPr>
              <a:t>MARZ</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O 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fontScale="92500" lnSpcReduction="10000"/>
          </a:bodyPr>
          <a:lstStyle/>
          <a:p>
            <a:pPr marL="0" indent="0">
              <a:buNone/>
            </a:pPr>
            <a:r>
              <a:rPr lang="es-MX" sz="4400" b="1" kern="0" dirty="0">
                <a:solidFill>
                  <a:schemeClr val="accent1"/>
                </a:solidFill>
                <a:latin typeface="+mj-lt"/>
                <a:cs typeface="Arial" panose="020B0604020202020204" pitchFamily="34" charset="0"/>
              </a:rPr>
              <a:t>Introducción</a:t>
            </a:r>
          </a:p>
          <a:p>
            <a:pPr marL="0" indent="0">
              <a:buNone/>
            </a:pPr>
            <a:endParaRPr lang="es-MX" dirty="0"/>
          </a:p>
          <a:p>
            <a:pPr marL="0" indent="0" algn="just">
              <a:buNone/>
            </a:pPr>
            <a:r>
              <a:rPr lang="es-MX" dirty="0"/>
              <a:t>Las pruebas de software constituyen una etapa fundamental dentro del ciclo de vida del desarrollo de sistemas, ya que permiten verificar y validar que el sistema cumple con los requisitos establecidos. A través de estas, es posible identificar errores, mejorar la calidad del producto y garantizar su correcto funcionamiento antes de su implementación en un entorno real.</a:t>
            </a:r>
          </a:p>
          <a:p>
            <a:pPr marL="0" indent="0" algn="just">
              <a:buNone/>
            </a:pPr>
            <a:r>
              <a:rPr lang="es-MX" dirty="0"/>
              <a:t>De acuerdo con Pressman (2015), las pruebas de software son un proceso sistemático cuyo objetivo es detectar errores y asegurar la calidad del sistema.</a:t>
            </a:r>
          </a:p>
          <a:p>
            <a:pPr marL="0" indent="0" algn="just">
              <a:buNone/>
            </a:pPr>
            <a:r>
              <a:rPr lang="es-MX" dirty="0"/>
              <a:t>En este reporte se documenta la aplicación de pruebas al sistema </a:t>
            </a:r>
            <a:r>
              <a:rPr lang="es-MX" i="1" dirty="0" err="1"/>
              <a:t>EventControl</a:t>
            </a:r>
            <a:r>
              <a:rPr lang="es-MX" dirty="0"/>
              <a:t>, tomando como base una simulación de uso real que posteriormente se desarrolla en la actividad práctica correspondiente.</a:t>
            </a:r>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p:txBody>
          <a:bodyPr/>
          <a:lstStyle/>
          <a:p>
            <a:pPr marL="0" indent="0">
              <a:buNone/>
            </a:pPr>
            <a:r>
              <a:rPr lang="es-MX" sz="4400" b="1" kern="0" dirty="0">
                <a:solidFill>
                  <a:schemeClr val="accent1"/>
                </a:solidFill>
                <a:latin typeface="+mj-lt"/>
                <a:cs typeface="Arial" panose="020B0604020202020204" pitchFamily="34" charset="0"/>
              </a:rPr>
              <a:t>Objetivo</a:t>
            </a:r>
          </a:p>
          <a:p>
            <a:pPr marL="0" indent="0">
              <a:buNone/>
            </a:pPr>
            <a:r>
              <a:rPr lang="es-MX" dirty="0"/>
              <a:t> </a:t>
            </a:r>
          </a:p>
          <a:p>
            <a:pPr marL="0" indent="0" algn="just">
              <a:buNone/>
            </a:pPr>
            <a:r>
              <a:rPr lang="es-MX" dirty="0"/>
              <a:t>Aplicar pruebas de software al sistema </a:t>
            </a:r>
            <a:r>
              <a:rPr lang="es-MX" b="1" dirty="0" err="1"/>
              <a:t>EventControl</a:t>
            </a:r>
            <a:r>
              <a:rPr lang="es-MX" dirty="0"/>
              <a:t> para validar su funcionamiento, detectar errores y asegurar su correcto desempeño en un entorno real.</a:t>
            </a:r>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p:txBody>
          <a:bodyPr>
            <a:normAutofit/>
          </a:bodyPr>
          <a:lstStyle/>
          <a:p>
            <a:r>
              <a:rPr lang="es-MX" sz="4800" b="1" dirty="0" err="1">
                <a:solidFill>
                  <a:schemeClr val="accent1"/>
                </a:solidFill>
              </a:rPr>
              <a:t>justificacion</a:t>
            </a:r>
            <a:endParaRPr lang="es-MX" sz="4800" b="1" dirty="0">
              <a:solidFill>
                <a:schemeClr val="accent1"/>
              </a:solidFill>
            </a:endParaRPr>
          </a:p>
        </p:txBody>
      </p:sp>
      <p:sp>
        <p:nvSpPr>
          <p:cNvPr id="3" name="Marcador de contenido 2">
            <a:extLst>
              <a:ext uri="{FF2B5EF4-FFF2-40B4-BE49-F238E27FC236}">
                <a16:creationId xmlns:a16="http://schemas.microsoft.com/office/drawing/2014/main" id="{8CEA835B-7257-6BC0-9849-98A1416CE74C}"/>
              </a:ext>
            </a:extLst>
          </p:cNvPr>
          <p:cNvSpPr>
            <a:spLocks noGrp="1"/>
          </p:cNvSpPr>
          <p:nvPr>
            <p:ph idx="1"/>
          </p:nvPr>
        </p:nvSpPr>
        <p:spPr/>
        <p:txBody>
          <a:bodyPr>
            <a:normAutofit/>
          </a:bodyPr>
          <a:lstStyle/>
          <a:p>
            <a:pPr marL="0" indent="0" algn="just">
              <a:buNone/>
            </a:pPr>
            <a:r>
              <a:rPr lang="es-MX" dirty="0"/>
              <a:t>Para garantizar que el sistema </a:t>
            </a:r>
            <a:r>
              <a:rPr lang="es-MX" b="1" dirty="0" err="1"/>
              <a:t>EventControl</a:t>
            </a:r>
            <a:r>
              <a:rPr lang="es-MX" dirty="0"/>
              <a:t> funcione de manera correcta, confiable y segura antes de su uso en un entorno real.</a:t>
            </a:r>
          </a:p>
          <a:p>
            <a:pPr marL="0" indent="0" algn="just">
              <a:buNone/>
            </a:pPr>
            <a:r>
              <a:rPr lang="es-MX" dirty="0"/>
              <a:t>Debido a que el sistema está diseñado para ser utilizado en eventos en vivo, donde no existe margen para errores, resulta fundamental validar cada una de sus funcionalidades mediante pruebas controladas para tener un desarrollo optimo.</a:t>
            </a:r>
          </a:p>
          <a:p>
            <a:pPr marL="0" indent="0" algn="just">
              <a:buNone/>
            </a:pPr>
            <a:endParaRPr lang="es-MX" dirty="0"/>
          </a:p>
        </p:txBody>
      </p:sp>
    </p:spTree>
    <p:extLst>
      <p:ext uri="{BB962C8B-B14F-4D97-AF65-F5344CB8AC3E}">
        <p14:creationId xmlns:p14="http://schemas.microsoft.com/office/powerpoint/2010/main" val="352723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EA6E47-14ED-39E0-9C91-43138D1B3ED4}"/>
              </a:ext>
            </a:extLst>
          </p:cNvPr>
          <p:cNvSpPr>
            <a:spLocks noGrp="1"/>
          </p:cNvSpPr>
          <p:nvPr>
            <p:ph type="title"/>
          </p:nvPr>
        </p:nvSpPr>
        <p:spPr/>
        <p:txBody>
          <a:bodyPr/>
          <a:lstStyle/>
          <a:p>
            <a:r>
              <a:rPr lang="es-MX" b="1" dirty="0">
                <a:solidFill>
                  <a:schemeClr val="accent1"/>
                </a:solidFill>
              </a:rPr>
              <a:t>Descripción del sistema </a:t>
            </a:r>
            <a:r>
              <a:rPr lang="es-MX" b="1" dirty="0" err="1">
                <a:solidFill>
                  <a:schemeClr val="accent1"/>
                </a:solidFill>
              </a:rPr>
              <a:t>EventControl</a:t>
            </a:r>
            <a:endParaRPr lang="es-MX" dirty="0">
              <a:solidFill>
                <a:schemeClr val="accent1"/>
              </a:solidFill>
            </a:endParaRPr>
          </a:p>
        </p:txBody>
      </p:sp>
      <p:sp>
        <p:nvSpPr>
          <p:cNvPr id="3" name="Marcador de contenido 2">
            <a:extLst>
              <a:ext uri="{FF2B5EF4-FFF2-40B4-BE49-F238E27FC236}">
                <a16:creationId xmlns:a16="http://schemas.microsoft.com/office/drawing/2014/main" id="{1C5695D9-5E7F-0A22-B7C0-70870CE71F5F}"/>
              </a:ext>
            </a:extLst>
          </p:cNvPr>
          <p:cNvSpPr>
            <a:spLocks noGrp="1"/>
          </p:cNvSpPr>
          <p:nvPr>
            <p:ph idx="1"/>
          </p:nvPr>
        </p:nvSpPr>
        <p:spPr/>
        <p:txBody>
          <a:bodyPr>
            <a:normAutofit fontScale="62500" lnSpcReduction="20000"/>
          </a:bodyPr>
          <a:lstStyle/>
          <a:p>
            <a:pPr marL="0" indent="0" algn="just">
              <a:buNone/>
            </a:pPr>
            <a:r>
              <a:rPr lang="es-MX" dirty="0" err="1"/>
              <a:t>EventControl</a:t>
            </a:r>
            <a:r>
              <a:rPr lang="es-MX" dirty="0"/>
              <a:t> es un sistema digital diseñado para apoyar en la organización y administración de eventos. Su objetivo principal es permitir la gestión eficiente de la información relacionada con los invitados y la logística del evento.</a:t>
            </a:r>
          </a:p>
          <a:p>
            <a:pPr marL="0" indent="0" algn="just">
              <a:buNone/>
            </a:pPr>
            <a:r>
              <a:rPr lang="es-MX" dirty="0"/>
              <a:t>El sistema permite registrar la información del evento, administrar invitados, asignar mesas y llevar un control de acceso de los asistentes.</a:t>
            </a:r>
          </a:p>
          <a:p>
            <a:pPr>
              <a:buFont typeface="Wingdings" panose="05000000000000000000" pitchFamily="2" charset="2"/>
              <a:buChar char="Ø"/>
            </a:pPr>
            <a:r>
              <a:rPr lang="es-MX" dirty="0"/>
              <a:t>Entre las principales funciones del sistema se encuentran:</a:t>
            </a:r>
          </a:p>
          <a:p>
            <a:pPr lvl="0">
              <a:buFont typeface="Wingdings" panose="05000000000000000000" pitchFamily="2" charset="2"/>
              <a:buChar char="Ø"/>
            </a:pPr>
            <a:r>
              <a:rPr lang="es-MX" dirty="0"/>
              <a:t>Registro de eventos</a:t>
            </a:r>
          </a:p>
          <a:p>
            <a:pPr lvl="0">
              <a:buFont typeface="Wingdings" panose="05000000000000000000" pitchFamily="2" charset="2"/>
              <a:buChar char="Ø"/>
            </a:pPr>
            <a:r>
              <a:rPr lang="es-MX" dirty="0"/>
              <a:t>Registro de invitados</a:t>
            </a:r>
          </a:p>
          <a:p>
            <a:pPr lvl="0">
              <a:buFont typeface="Wingdings" panose="05000000000000000000" pitchFamily="2" charset="2"/>
              <a:buChar char="Ø"/>
            </a:pPr>
            <a:r>
              <a:rPr lang="es-MX" dirty="0"/>
              <a:t>Asignación de mesas</a:t>
            </a:r>
          </a:p>
          <a:p>
            <a:pPr lvl="0">
              <a:buFont typeface="Wingdings" panose="05000000000000000000" pitchFamily="2" charset="2"/>
              <a:buChar char="Ø"/>
            </a:pPr>
            <a:r>
              <a:rPr lang="es-MX" dirty="0"/>
              <a:t>Control de acceso al evento</a:t>
            </a:r>
          </a:p>
          <a:p>
            <a:pPr lvl="0">
              <a:buFont typeface="Wingdings" panose="05000000000000000000" pitchFamily="2" charset="2"/>
              <a:buChar char="Ø"/>
            </a:pPr>
            <a:r>
              <a:rPr lang="es-MX" dirty="0"/>
              <a:t>Confirmación de asistencia</a:t>
            </a:r>
          </a:p>
          <a:p>
            <a:pPr lvl="0">
              <a:buFont typeface="Wingdings" panose="05000000000000000000" pitchFamily="2" charset="2"/>
              <a:buChar char="Ø"/>
            </a:pPr>
            <a:r>
              <a:rPr lang="es-MX" dirty="0"/>
              <a:t>Administración de invitados</a:t>
            </a:r>
          </a:p>
          <a:p>
            <a:pPr lvl="0">
              <a:buFont typeface="Wingdings" panose="05000000000000000000" pitchFamily="2" charset="2"/>
              <a:buChar char="Ø"/>
            </a:pPr>
            <a:r>
              <a:rPr lang="es-MX" dirty="0"/>
              <a:t>Panel administrativo</a:t>
            </a:r>
          </a:p>
          <a:p>
            <a:pPr>
              <a:buFont typeface="Wingdings" panose="05000000000000000000" pitchFamily="2" charset="2"/>
              <a:buChar char="Ø"/>
            </a:pPr>
            <a:r>
              <a:rPr lang="es-MX" dirty="0"/>
              <a:t>Estas funcionalidades permiten mejorar la organización del evento mediante el uso de herramientas tecnológicas.</a:t>
            </a:r>
          </a:p>
          <a:p>
            <a:endParaRPr lang="es-MX" dirty="0"/>
          </a:p>
        </p:txBody>
      </p:sp>
    </p:spTree>
    <p:extLst>
      <p:ext uri="{BB962C8B-B14F-4D97-AF65-F5344CB8AC3E}">
        <p14:creationId xmlns:p14="http://schemas.microsoft.com/office/powerpoint/2010/main" val="3792537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F87FE97-0C0C-86EF-C9AE-862F5E06582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pic>
        <p:nvPicPr>
          <p:cNvPr id="1025" name="Imagen 1">
            <a:extLst>
              <a:ext uri="{FF2B5EF4-FFF2-40B4-BE49-F238E27FC236}">
                <a16:creationId xmlns:a16="http://schemas.microsoft.com/office/drawing/2014/main" id="{34AF92E1-628C-41F7-C61A-4787F51148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3045" y="561975"/>
            <a:ext cx="4939879" cy="27813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01FA5F75-F26D-EF43-0D9E-C4EF09DB7090}"/>
              </a:ext>
            </a:extLst>
          </p:cNvPr>
          <p:cNvSpPr>
            <a:spLocks noChangeArrowheads="1"/>
          </p:cNvSpPr>
          <p:nvPr/>
        </p:nvSpPr>
        <p:spPr bwMode="auto">
          <a:xfrm>
            <a:off x="7574411" y="3448050"/>
            <a:ext cx="39902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dirty="0"/>
              <a:t>Dashboard</a:t>
            </a:r>
            <a:r>
              <a:rPr lang="es-MX" altLang="es-MX" kern="100" dirty="0">
                <a:latin typeface="Arial" panose="020B0604020202020204" pitchFamily="34" charset="0"/>
                <a:ea typeface="Calibri" panose="020F0502020204030204" pitchFamily="34" charset="0"/>
                <a:cs typeface="Times New Roman" panose="02020603050405020304" pitchFamily="18" charset="0"/>
              </a:rPr>
              <a:t> del sistema </a:t>
            </a:r>
            <a:r>
              <a:rPr lang="es-MX" altLang="es-MX" b="1" kern="100" dirty="0" err="1">
                <a:latin typeface="Arial" panose="020B0604020202020204" pitchFamily="34" charset="0"/>
                <a:ea typeface="Calibri" panose="020F0502020204030204" pitchFamily="34" charset="0"/>
                <a:cs typeface="Times New Roman" panose="02020603050405020304" pitchFamily="18" charset="0"/>
              </a:rPr>
              <a:t>EventControl</a:t>
            </a:r>
            <a:r>
              <a:rPr kumimoji="0" lang="es-MX" altLang="es-MX" sz="1200" b="1" u="none" strike="noStrike" cap="none" normalizeH="0" baseline="0" dirty="0">
                <a:ln>
                  <a:noFill/>
                </a:ln>
                <a:effectLst/>
                <a:latin typeface="Arial" panose="020B0604020202020204" pitchFamily="34" charset="0"/>
                <a:ea typeface="Calibri" panose="020F0502020204030204" pitchFamily="34" charset="0"/>
                <a:cs typeface="Arial" panose="020B0604020202020204" pitchFamily="34" charset="0"/>
              </a:rPr>
              <a:t>.</a:t>
            </a:r>
            <a:endParaRPr kumimoji="0" lang="es-MX" altLang="es-MX" sz="1200" b="1" u="none" strike="noStrike" cap="none" normalizeH="0" baseline="0" dirty="0">
              <a:ln>
                <a:noFill/>
              </a:ln>
              <a:effectLst/>
              <a:latin typeface="Arial" panose="020B0604020202020204" pitchFamily="34" charset="0"/>
            </a:endParaRPr>
          </a:p>
        </p:txBody>
      </p:sp>
      <p:pic>
        <p:nvPicPr>
          <p:cNvPr id="3" name="Imagen 2">
            <a:extLst>
              <a:ext uri="{FF2B5EF4-FFF2-40B4-BE49-F238E27FC236}">
                <a16:creationId xmlns:a16="http://schemas.microsoft.com/office/drawing/2014/main" id="{F7694A87-0AE0-6314-3723-08EA600A2A07}"/>
              </a:ext>
            </a:extLst>
          </p:cNvPr>
          <p:cNvPicPr>
            <a:picLocks noChangeAspect="1"/>
          </p:cNvPicPr>
          <p:nvPr/>
        </p:nvPicPr>
        <p:blipFill>
          <a:blip r:embed="rId3"/>
          <a:stretch>
            <a:fillRect/>
          </a:stretch>
        </p:blipFill>
        <p:spPr>
          <a:xfrm>
            <a:off x="638175" y="490537"/>
            <a:ext cx="5198533" cy="2924175"/>
          </a:xfrm>
          <a:prstGeom prst="rect">
            <a:avLst/>
          </a:prstGeom>
        </p:spPr>
      </p:pic>
      <p:sp>
        <p:nvSpPr>
          <p:cNvPr id="7" name="CuadroTexto 6">
            <a:extLst>
              <a:ext uri="{FF2B5EF4-FFF2-40B4-BE49-F238E27FC236}">
                <a16:creationId xmlns:a16="http://schemas.microsoft.com/office/drawing/2014/main" id="{B6578634-BC37-5EA6-2AE2-7A4155A50E9F}"/>
              </a:ext>
            </a:extLst>
          </p:cNvPr>
          <p:cNvSpPr txBox="1"/>
          <p:nvPr/>
        </p:nvSpPr>
        <p:spPr>
          <a:xfrm>
            <a:off x="638175" y="3515022"/>
            <a:ext cx="5198533" cy="923330"/>
          </a:xfrm>
          <a:prstGeom prst="rect">
            <a:avLst/>
          </a:prstGeom>
          <a:noFill/>
        </p:spPr>
        <p:txBody>
          <a:bodyPr wrap="square">
            <a:spAutoFit/>
          </a:bodyPr>
          <a:lstStyle/>
          <a:p>
            <a:pPr algn="just"/>
            <a:r>
              <a:rPr lang="es-MX" dirty="0"/>
              <a:t>Pantalla de inicio de sesión del panel administrativo del sistema </a:t>
            </a:r>
            <a:r>
              <a:rPr lang="es-MX" b="1" dirty="0" err="1"/>
              <a:t>EventControl</a:t>
            </a:r>
            <a:r>
              <a:rPr lang="es-MX" dirty="0"/>
              <a:t>, utilizada para autenticar a los usuarios antes de acceder a la gestión del evento.</a:t>
            </a:r>
          </a:p>
        </p:txBody>
      </p:sp>
    </p:spTree>
    <p:extLst>
      <p:ext uri="{BB962C8B-B14F-4D97-AF65-F5344CB8AC3E}">
        <p14:creationId xmlns:p14="http://schemas.microsoft.com/office/powerpoint/2010/main" val="3863405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CE45DD-83FD-7C7F-E454-73B541A98362}"/>
              </a:ext>
            </a:extLst>
          </p:cNvPr>
          <p:cNvSpPr>
            <a:spLocks noGrp="1"/>
          </p:cNvSpPr>
          <p:nvPr>
            <p:ph type="title"/>
          </p:nvPr>
        </p:nvSpPr>
        <p:spPr/>
        <p:txBody>
          <a:bodyPr/>
          <a:lstStyle/>
          <a:p>
            <a:r>
              <a:rPr lang="es-MX" b="1" dirty="0">
                <a:solidFill>
                  <a:schemeClr val="accent1"/>
                </a:solidFill>
              </a:rPr>
              <a:t>Herramientas y tecnologías utilizadas</a:t>
            </a:r>
          </a:p>
        </p:txBody>
      </p:sp>
      <p:sp>
        <p:nvSpPr>
          <p:cNvPr id="3" name="Marcador de contenido 2">
            <a:extLst>
              <a:ext uri="{FF2B5EF4-FFF2-40B4-BE49-F238E27FC236}">
                <a16:creationId xmlns:a16="http://schemas.microsoft.com/office/drawing/2014/main" id="{CF0DF6CA-8012-8757-557E-BA3407C165B8}"/>
              </a:ext>
            </a:extLst>
          </p:cNvPr>
          <p:cNvSpPr>
            <a:spLocks noGrp="1"/>
          </p:cNvSpPr>
          <p:nvPr>
            <p:ph idx="1"/>
          </p:nvPr>
        </p:nvSpPr>
        <p:spPr/>
        <p:txBody>
          <a:bodyPr/>
          <a:lstStyle/>
          <a:p>
            <a:pPr marL="0" indent="0">
              <a:buNone/>
            </a:pPr>
            <a:r>
              <a:rPr lang="es-MX" dirty="0"/>
              <a:t>Para el desarrollo del sistema se utilizaron las siguientes herramientas y tecnologías.</a:t>
            </a:r>
          </a:p>
          <a:p>
            <a:endParaRPr lang="es-MX" dirty="0"/>
          </a:p>
        </p:txBody>
      </p:sp>
      <p:graphicFrame>
        <p:nvGraphicFramePr>
          <p:cNvPr id="4" name="Tabla 3">
            <a:extLst>
              <a:ext uri="{FF2B5EF4-FFF2-40B4-BE49-F238E27FC236}">
                <a16:creationId xmlns:a16="http://schemas.microsoft.com/office/drawing/2014/main" id="{EB7631F9-F15B-BF98-E303-02ECF3BA5183}"/>
              </a:ext>
            </a:extLst>
          </p:cNvPr>
          <p:cNvGraphicFramePr>
            <a:graphicFrameLocks noGrp="1"/>
          </p:cNvGraphicFramePr>
          <p:nvPr>
            <p:extLst>
              <p:ext uri="{D42A27DB-BD31-4B8C-83A1-F6EECF244321}">
                <p14:modId xmlns:p14="http://schemas.microsoft.com/office/powerpoint/2010/main" val="1416664375"/>
              </p:ext>
            </p:extLst>
          </p:nvPr>
        </p:nvGraphicFramePr>
        <p:xfrm>
          <a:off x="838200" y="2795237"/>
          <a:ext cx="5184000" cy="2963802"/>
        </p:xfrm>
        <a:graphic>
          <a:graphicData uri="http://schemas.openxmlformats.org/drawingml/2006/table">
            <a:tbl>
              <a:tblPr firstRow="1" firstCol="1" bandRow="1">
                <a:tableStyleId>{7DF18680-E054-41AD-8BC1-D1AEF772440D}</a:tableStyleId>
              </a:tblPr>
              <a:tblGrid>
                <a:gridCol w="2592000">
                  <a:extLst>
                    <a:ext uri="{9D8B030D-6E8A-4147-A177-3AD203B41FA5}">
                      <a16:colId xmlns:a16="http://schemas.microsoft.com/office/drawing/2014/main" val="2538768585"/>
                    </a:ext>
                  </a:extLst>
                </a:gridCol>
                <a:gridCol w="2592000">
                  <a:extLst>
                    <a:ext uri="{9D8B030D-6E8A-4147-A177-3AD203B41FA5}">
                      <a16:colId xmlns:a16="http://schemas.microsoft.com/office/drawing/2014/main" val="210879390"/>
                    </a:ext>
                  </a:extLst>
                </a:gridCol>
              </a:tblGrid>
              <a:tr h="0">
                <a:tc>
                  <a:txBody>
                    <a:bodyPr/>
                    <a:lstStyle/>
                    <a:p>
                      <a:pPr>
                        <a:lnSpc>
                          <a:spcPct val="115000"/>
                        </a:lnSpc>
                        <a:spcAft>
                          <a:spcPts val="800"/>
                        </a:spcAft>
                        <a:buNone/>
                      </a:pPr>
                      <a:r>
                        <a:rPr lang="es-MX" sz="1400" b="1" kern="100" dirty="0">
                          <a:effectLst/>
                        </a:rPr>
                        <a:t>Herramienta</a:t>
                      </a:r>
                      <a:endParaRPr lang="es-MX" sz="1400" b="1" kern="100" dirty="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400" b="1" kern="100">
                          <a:effectLst/>
                        </a:rPr>
                        <a:t>Descripción</a:t>
                      </a:r>
                      <a:endParaRPr lang="es-MX" sz="1400" b="1"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30394332"/>
                  </a:ext>
                </a:extLst>
              </a:tr>
              <a:tr h="0">
                <a:tc>
                  <a:txBody>
                    <a:bodyPr/>
                    <a:lstStyle/>
                    <a:p>
                      <a:pPr>
                        <a:lnSpc>
                          <a:spcPct val="115000"/>
                        </a:lnSpc>
                        <a:spcAft>
                          <a:spcPts val="800"/>
                        </a:spcAft>
                        <a:buNone/>
                      </a:pPr>
                      <a:r>
                        <a:rPr lang="es-MX" sz="1400" b="1" kern="100">
                          <a:effectLst/>
                        </a:rPr>
                        <a:t>JavaScript</a:t>
                      </a:r>
                      <a:endParaRPr lang="es-MX" sz="1400" b="1"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400" b="1" kern="100">
                          <a:effectLst/>
                        </a:rPr>
                        <a:t>Lenguaje de programación utilizado para implementar la lógica del sistema.</a:t>
                      </a:r>
                      <a:endParaRPr lang="es-MX" sz="1400" b="1"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91638021"/>
                  </a:ext>
                </a:extLst>
              </a:tr>
              <a:tr h="0">
                <a:tc>
                  <a:txBody>
                    <a:bodyPr/>
                    <a:lstStyle/>
                    <a:p>
                      <a:pPr>
                        <a:lnSpc>
                          <a:spcPct val="115000"/>
                        </a:lnSpc>
                        <a:spcAft>
                          <a:spcPts val="800"/>
                        </a:spcAft>
                        <a:buNone/>
                      </a:pPr>
                      <a:r>
                        <a:rPr lang="es-MX" sz="1400" b="1" kern="100">
                          <a:effectLst/>
                        </a:rPr>
                        <a:t>HTML</a:t>
                      </a:r>
                      <a:endParaRPr lang="es-MX" sz="1400" b="1"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400" b="1" kern="100">
                          <a:effectLst/>
                        </a:rPr>
                        <a:t>Lenguaje utilizado para estructurar las páginas del sistema.</a:t>
                      </a:r>
                      <a:endParaRPr lang="es-MX" sz="1400" b="1"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31208913"/>
                  </a:ext>
                </a:extLst>
              </a:tr>
              <a:tr h="0">
                <a:tc>
                  <a:txBody>
                    <a:bodyPr/>
                    <a:lstStyle/>
                    <a:p>
                      <a:pPr>
                        <a:lnSpc>
                          <a:spcPct val="115000"/>
                        </a:lnSpc>
                        <a:spcAft>
                          <a:spcPts val="800"/>
                        </a:spcAft>
                        <a:buNone/>
                      </a:pPr>
                      <a:r>
                        <a:rPr lang="es-MX" sz="1400" b="1" kern="100">
                          <a:effectLst/>
                        </a:rPr>
                        <a:t>CSS</a:t>
                      </a:r>
                      <a:endParaRPr lang="es-MX" sz="1400" b="1"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400" b="1" kern="100">
                          <a:effectLst/>
                        </a:rPr>
                        <a:t>Utilizado para el diseño visual de la interfaz.</a:t>
                      </a:r>
                      <a:endParaRPr lang="es-MX" sz="1400" b="1"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54498671"/>
                  </a:ext>
                </a:extLst>
              </a:tr>
              <a:tr h="0">
                <a:tc>
                  <a:txBody>
                    <a:bodyPr/>
                    <a:lstStyle/>
                    <a:p>
                      <a:pPr>
                        <a:lnSpc>
                          <a:spcPct val="115000"/>
                        </a:lnSpc>
                        <a:spcAft>
                          <a:spcPts val="800"/>
                        </a:spcAft>
                        <a:buNone/>
                      </a:pPr>
                      <a:r>
                        <a:rPr lang="es-MX" sz="1400" b="1" kern="100">
                          <a:effectLst/>
                        </a:rPr>
                        <a:t>Supabase</a:t>
                      </a:r>
                      <a:endParaRPr lang="es-MX" sz="1400" b="1"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400" b="1" kern="100">
                          <a:effectLst/>
                        </a:rPr>
                        <a:t>Plataforma utilizada como gestor de base de datos.</a:t>
                      </a:r>
                      <a:endParaRPr lang="es-MX" sz="1400" b="1"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19650751"/>
                  </a:ext>
                </a:extLst>
              </a:tr>
              <a:tr h="0">
                <a:tc>
                  <a:txBody>
                    <a:bodyPr/>
                    <a:lstStyle/>
                    <a:p>
                      <a:pPr>
                        <a:lnSpc>
                          <a:spcPct val="115000"/>
                        </a:lnSpc>
                        <a:spcAft>
                          <a:spcPts val="800"/>
                        </a:spcAft>
                        <a:buNone/>
                      </a:pPr>
                      <a:r>
                        <a:rPr lang="es-MX" sz="1400" b="1" kern="100">
                          <a:effectLst/>
                        </a:rPr>
                        <a:t>Visual Studio Code</a:t>
                      </a:r>
                      <a:endParaRPr lang="es-MX" sz="1400" b="1"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400" b="1" kern="100" dirty="0">
                          <a:effectLst/>
                        </a:rPr>
                        <a:t>Editor de código utilizado para el desarrollo del sistema.</a:t>
                      </a:r>
                      <a:endParaRPr lang="es-MX" sz="1400" b="1" kern="100" dirty="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49950411"/>
                  </a:ext>
                </a:extLst>
              </a:tr>
            </a:tbl>
          </a:graphicData>
        </a:graphic>
      </p:graphicFrame>
      <p:pic>
        <p:nvPicPr>
          <p:cNvPr id="5" name="Imagen 4">
            <a:extLst>
              <a:ext uri="{FF2B5EF4-FFF2-40B4-BE49-F238E27FC236}">
                <a16:creationId xmlns:a16="http://schemas.microsoft.com/office/drawing/2014/main" id="{AF3F3279-D2D1-652E-BCB3-22C0A820D5A6}"/>
              </a:ext>
            </a:extLst>
          </p:cNvPr>
          <p:cNvPicPr>
            <a:picLocks noChangeAspect="1"/>
          </p:cNvPicPr>
          <p:nvPr/>
        </p:nvPicPr>
        <p:blipFill>
          <a:blip r:embed="rId2"/>
          <a:stretch>
            <a:fillRect/>
          </a:stretch>
        </p:blipFill>
        <p:spPr>
          <a:xfrm>
            <a:off x="6451568" y="2612258"/>
            <a:ext cx="5188268" cy="2918181"/>
          </a:xfrm>
          <a:prstGeom prst="rect">
            <a:avLst/>
          </a:prstGeom>
        </p:spPr>
      </p:pic>
      <p:sp>
        <p:nvSpPr>
          <p:cNvPr id="7" name="CuadroTexto 6">
            <a:extLst>
              <a:ext uri="{FF2B5EF4-FFF2-40B4-BE49-F238E27FC236}">
                <a16:creationId xmlns:a16="http://schemas.microsoft.com/office/drawing/2014/main" id="{0E71D716-F321-C131-E8E9-3E02F9EFE252}"/>
              </a:ext>
            </a:extLst>
          </p:cNvPr>
          <p:cNvSpPr txBox="1"/>
          <p:nvPr/>
        </p:nvSpPr>
        <p:spPr>
          <a:xfrm>
            <a:off x="6376035" y="5665569"/>
            <a:ext cx="6096000" cy="646331"/>
          </a:xfrm>
          <a:prstGeom prst="rect">
            <a:avLst/>
          </a:prstGeom>
          <a:noFill/>
        </p:spPr>
        <p:txBody>
          <a:bodyPr wrap="square">
            <a:spAutoFit/>
          </a:bodyPr>
          <a:lstStyle/>
          <a:p>
            <a:pPr>
              <a:spcAft>
                <a:spcPts val="1000"/>
              </a:spcAft>
              <a:buNone/>
            </a:pPr>
            <a:r>
              <a:rPr lang="es-MX" sz="1800" kern="100" dirty="0">
                <a:effectLst/>
                <a:latin typeface="Arial" panose="020B0604020202020204" pitchFamily="34" charset="0"/>
                <a:ea typeface="Calibri" panose="020F0502020204030204" pitchFamily="34" charset="0"/>
                <a:cs typeface="Times New Roman" panose="02020603050405020304" pitchFamily="18" charset="0"/>
              </a:rPr>
              <a:t> </a:t>
            </a:r>
            <a:r>
              <a:rPr lang="es-MX" kern="100" dirty="0">
                <a:latin typeface="Arial" panose="020B0604020202020204" pitchFamily="34" charset="0"/>
                <a:ea typeface="Calibri" panose="020F0502020204030204" pitchFamily="34" charset="0"/>
                <a:cs typeface="Times New Roman" panose="02020603050405020304" pitchFamily="18" charset="0"/>
              </a:rPr>
              <a:t>El desarrollo del sistema se realizó utilizando el editor Visual Studio </a:t>
            </a:r>
            <a:r>
              <a:rPr lang="es-MX" kern="100" dirty="0" err="1">
                <a:latin typeface="Arial" panose="020B0604020202020204" pitchFamily="34" charset="0"/>
                <a:ea typeface="Calibri" panose="020F0502020204030204" pitchFamily="34" charset="0"/>
                <a:cs typeface="Times New Roman" panose="02020603050405020304" pitchFamily="18" charset="0"/>
              </a:rPr>
              <a:t>Code</a:t>
            </a:r>
            <a:endParaRPr lang="es-MX" kern="100"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01154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7A9D2B-DA3A-5FCA-18DA-12CBBAB959EE}"/>
              </a:ext>
            </a:extLst>
          </p:cNvPr>
          <p:cNvSpPr>
            <a:spLocks noGrp="1"/>
          </p:cNvSpPr>
          <p:nvPr>
            <p:ph type="title"/>
          </p:nvPr>
        </p:nvSpPr>
        <p:spPr/>
        <p:txBody>
          <a:bodyPr/>
          <a:lstStyle/>
          <a:p>
            <a:r>
              <a:rPr lang="es-MX" b="1" dirty="0">
                <a:solidFill>
                  <a:schemeClr val="accent1"/>
                </a:solidFill>
              </a:rPr>
              <a:t>Metodología</a:t>
            </a:r>
          </a:p>
        </p:txBody>
      </p:sp>
      <p:sp>
        <p:nvSpPr>
          <p:cNvPr id="3" name="Marcador de contenido 2">
            <a:extLst>
              <a:ext uri="{FF2B5EF4-FFF2-40B4-BE49-F238E27FC236}">
                <a16:creationId xmlns:a16="http://schemas.microsoft.com/office/drawing/2014/main" id="{FB4DBE2D-277C-4FF9-480C-3BE1E50BC788}"/>
              </a:ext>
            </a:extLst>
          </p:cNvPr>
          <p:cNvSpPr>
            <a:spLocks noGrp="1"/>
          </p:cNvSpPr>
          <p:nvPr>
            <p:ph idx="1"/>
          </p:nvPr>
        </p:nvSpPr>
        <p:spPr/>
        <p:txBody>
          <a:bodyPr/>
          <a:lstStyle/>
          <a:p>
            <a:pPr marL="0" indent="0" algn="just">
              <a:buNone/>
            </a:pPr>
            <a:r>
              <a:rPr lang="es-MX" dirty="0"/>
              <a:t>Para la realización de esta práctica se utiliza una metodología basada en pruebas manuales, simulando el uso real del sistema.</a:t>
            </a:r>
          </a:p>
          <a:p>
            <a:pPr marL="0" indent="0" algn="just">
              <a:buNone/>
            </a:pPr>
            <a:r>
              <a:rPr lang="es-MX" dirty="0"/>
              <a:t>Se ejecutaron pruebas sobre los distintos módulos del sistema, evaluando su comportamiento en diferentes escenarios. Para ello, se utilizaron distintos roles de usuario (administrador, personal de acceso e invitados), permitiendo validar el flujo completo del sistema.</a:t>
            </a:r>
          </a:p>
          <a:p>
            <a:pPr marL="0" indent="0">
              <a:buNone/>
            </a:pPr>
            <a:endParaRPr lang="es-MX" dirty="0"/>
          </a:p>
        </p:txBody>
      </p:sp>
    </p:spTree>
    <p:extLst>
      <p:ext uri="{BB962C8B-B14F-4D97-AF65-F5344CB8AC3E}">
        <p14:creationId xmlns:p14="http://schemas.microsoft.com/office/powerpoint/2010/main" val="1048985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A4710B-BA46-BAB1-FA98-3B22D52BC34A}"/>
              </a:ext>
            </a:extLst>
          </p:cNvPr>
          <p:cNvSpPr>
            <a:spLocks noGrp="1"/>
          </p:cNvSpPr>
          <p:nvPr>
            <p:ph type="title"/>
          </p:nvPr>
        </p:nvSpPr>
        <p:spPr/>
        <p:txBody>
          <a:bodyPr/>
          <a:lstStyle/>
          <a:p>
            <a:r>
              <a:rPr lang="es-MX" b="1" dirty="0"/>
              <a:t>Tipos de Pruebas Aplicadas</a:t>
            </a:r>
            <a:endParaRPr lang="es-MX" dirty="0"/>
          </a:p>
        </p:txBody>
      </p:sp>
      <p:sp>
        <p:nvSpPr>
          <p:cNvPr id="3" name="Marcador de contenido 2">
            <a:extLst>
              <a:ext uri="{FF2B5EF4-FFF2-40B4-BE49-F238E27FC236}">
                <a16:creationId xmlns:a16="http://schemas.microsoft.com/office/drawing/2014/main" id="{7B539760-C1DC-1411-C321-DFE8A5BE96D6}"/>
              </a:ext>
            </a:extLst>
          </p:cNvPr>
          <p:cNvSpPr>
            <a:spLocks noGrp="1"/>
          </p:cNvSpPr>
          <p:nvPr>
            <p:ph idx="1"/>
          </p:nvPr>
        </p:nvSpPr>
        <p:spPr>
          <a:xfrm>
            <a:off x="838200" y="1563757"/>
            <a:ext cx="5362575" cy="4929118"/>
          </a:xfrm>
        </p:spPr>
        <p:txBody>
          <a:bodyPr>
            <a:normAutofit/>
          </a:bodyPr>
          <a:lstStyle/>
          <a:p>
            <a:pPr marL="0" indent="0">
              <a:buNone/>
            </a:pPr>
            <a:r>
              <a:rPr lang="es-MX" sz="2000" b="1" dirty="0"/>
              <a:t> Pruebas Unitarias</a:t>
            </a:r>
          </a:p>
          <a:p>
            <a:pPr>
              <a:buFont typeface="Wingdings" panose="05000000000000000000" pitchFamily="2" charset="2"/>
              <a:buChar char="Ø"/>
            </a:pPr>
            <a:r>
              <a:rPr lang="es-MX" sz="2000" dirty="0"/>
              <a:t>Se validó la lógica interna de cada componente de forma aislada para asegurar que los métodos y funciones retornen los valores esperados.</a:t>
            </a:r>
          </a:p>
          <a:p>
            <a:pPr marL="0" indent="0">
              <a:buNone/>
            </a:pPr>
            <a:r>
              <a:rPr lang="es-MX" sz="2000" b="1" dirty="0"/>
              <a:t>Enfoque:</a:t>
            </a:r>
            <a:r>
              <a:rPr lang="es-MX" sz="2000" dirty="0"/>
              <a:t> Se evaluó el funcionamiento individual de cada módulo del sistema.</a:t>
            </a:r>
          </a:p>
        </p:txBody>
      </p:sp>
    </p:spTree>
    <p:extLst>
      <p:ext uri="{BB962C8B-B14F-4D97-AF65-F5344CB8AC3E}">
        <p14:creationId xmlns:p14="http://schemas.microsoft.com/office/powerpoint/2010/main" val="1733744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A16C7-8F3A-9151-8420-51F4BF6CC8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2CA020-69F9-0F0E-F724-A664F09A055F}"/>
              </a:ext>
            </a:extLst>
          </p:cNvPr>
          <p:cNvSpPr>
            <a:spLocks noGrp="1"/>
          </p:cNvSpPr>
          <p:nvPr>
            <p:ph type="title"/>
          </p:nvPr>
        </p:nvSpPr>
        <p:spPr/>
        <p:txBody>
          <a:bodyPr/>
          <a:lstStyle/>
          <a:p>
            <a:r>
              <a:rPr lang="es-MX" b="1" dirty="0"/>
              <a:t>Tipos de Pruebas Aplicadas</a:t>
            </a:r>
            <a:endParaRPr lang="es-MX" dirty="0"/>
          </a:p>
        </p:txBody>
      </p:sp>
      <p:sp>
        <p:nvSpPr>
          <p:cNvPr id="3" name="Marcador de contenido 2">
            <a:extLst>
              <a:ext uri="{FF2B5EF4-FFF2-40B4-BE49-F238E27FC236}">
                <a16:creationId xmlns:a16="http://schemas.microsoft.com/office/drawing/2014/main" id="{5C73A3E7-8198-4FB1-B2C1-A1D977331333}"/>
              </a:ext>
            </a:extLst>
          </p:cNvPr>
          <p:cNvSpPr>
            <a:spLocks noGrp="1"/>
          </p:cNvSpPr>
          <p:nvPr>
            <p:ph idx="1"/>
          </p:nvPr>
        </p:nvSpPr>
        <p:spPr>
          <a:xfrm>
            <a:off x="838200" y="1563757"/>
            <a:ext cx="5362575" cy="4929118"/>
          </a:xfrm>
        </p:spPr>
        <p:txBody>
          <a:bodyPr>
            <a:normAutofit/>
          </a:bodyPr>
          <a:lstStyle/>
          <a:p>
            <a:pPr marL="0" indent="0">
              <a:buNone/>
            </a:pPr>
            <a:r>
              <a:rPr lang="es-MX" sz="2000" b="1" dirty="0"/>
              <a:t>Pruebas de Integración</a:t>
            </a:r>
          </a:p>
          <a:p>
            <a:pPr algn="just">
              <a:buFont typeface="Wingdings" panose="05000000000000000000" pitchFamily="2" charset="2"/>
              <a:buChar char="Ø"/>
            </a:pPr>
            <a:r>
              <a:rPr lang="es-MX" sz="2000" dirty="0"/>
              <a:t>Se realizaron pruebas de integración con el propósito de validar la correcta interacción entre los distintos componentes del sistema </a:t>
            </a:r>
            <a:r>
              <a:rPr lang="es-MX" sz="2000" dirty="0" err="1"/>
              <a:t>EventControl</a:t>
            </a:r>
            <a:r>
              <a:rPr lang="es-MX" sz="2000" dirty="0"/>
              <a:t>, específicamente entre el </a:t>
            </a:r>
            <a:r>
              <a:rPr lang="es-MX" sz="2000" b="1" dirty="0" err="1"/>
              <a:t>Frontend</a:t>
            </a:r>
            <a:r>
              <a:rPr lang="es-MX" sz="2000" b="1" dirty="0"/>
              <a:t> (cliente web)</a:t>
            </a:r>
            <a:r>
              <a:rPr lang="es-MX" sz="2000" dirty="0"/>
              <a:t>, la </a:t>
            </a:r>
            <a:r>
              <a:rPr lang="es-MX" sz="2000" b="1" dirty="0"/>
              <a:t>capa de servicios (</a:t>
            </a:r>
            <a:r>
              <a:rPr lang="es-MX" sz="2000" b="1" dirty="0" err="1"/>
              <a:t>Supabase</a:t>
            </a:r>
            <a:r>
              <a:rPr lang="es-MX" sz="2000" b="1" dirty="0"/>
              <a:t> SDK / lógica JavaScript)</a:t>
            </a:r>
            <a:r>
              <a:rPr lang="es-MX" sz="2000" dirty="0"/>
              <a:t> y la </a:t>
            </a:r>
            <a:r>
              <a:rPr lang="es-MX" sz="2000" b="1" dirty="0"/>
              <a:t>Base de Datos (PostgreSQL en </a:t>
            </a:r>
            <a:r>
              <a:rPr lang="es-MX" sz="2000" b="1" dirty="0" err="1"/>
              <a:t>Supabase</a:t>
            </a:r>
            <a:r>
              <a:rPr lang="es-MX" sz="2000" b="1" dirty="0"/>
              <a:t>)</a:t>
            </a:r>
          </a:p>
        </p:txBody>
      </p:sp>
      <p:pic>
        <p:nvPicPr>
          <p:cNvPr id="5" name="Imagen 4">
            <a:extLst>
              <a:ext uri="{FF2B5EF4-FFF2-40B4-BE49-F238E27FC236}">
                <a16:creationId xmlns:a16="http://schemas.microsoft.com/office/drawing/2014/main" id="{A0843DB6-FC34-868D-20F4-D7538F6852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7000" y="1563757"/>
            <a:ext cx="5503333" cy="3095625"/>
          </a:xfrm>
          <a:prstGeom prst="rect">
            <a:avLst/>
          </a:prstGeom>
        </p:spPr>
      </p:pic>
    </p:spTree>
    <p:extLst>
      <p:ext uri="{BB962C8B-B14F-4D97-AF65-F5344CB8AC3E}">
        <p14:creationId xmlns:p14="http://schemas.microsoft.com/office/powerpoint/2010/main" val="3906480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AD2B702-B5E5-C93E-1E55-505F24228C94}"/>
              </a:ext>
            </a:extLst>
          </p:cNvPr>
          <p:cNvSpPr>
            <a:spLocks noGrp="1"/>
          </p:cNvSpPr>
          <p:nvPr>
            <p:ph idx="1"/>
          </p:nvPr>
        </p:nvSpPr>
        <p:spPr/>
        <p:txBody>
          <a:bodyPr/>
          <a:lstStyle/>
          <a:p>
            <a:pPr marL="0" indent="0">
              <a:buNone/>
            </a:pPr>
            <a:r>
              <a:rPr lang="es-MX" b="1" dirty="0"/>
              <a:t>Pruebas de Sistema</a:t>
            </a:r>
          </a:p>
          <a:p>
            <a:pPr algn="just">
              <a:buFont typeface="Wingdings" panose="05000000000000000000" pitchFamily="2" charset="2"/>
              <a:buChar char="Ø"/>
            </a:pPr>
            <a:r>
              <a:rPr lang="es-MX" dirty="0"/>
              <a:t>Se realizaron pruebas de sistema con el objetivo de validar el funcionamiento integral de la aplicación </a:t>
            </a:r>
            <a:r>
              <a:rPr lang="es-MX" dirty="0" err="1"/>
              <a:t>EventControl</a:t>
            </a:r>
            <a:r>
              <a:rPr lang="es-MX" dirty="0"/>
              <a:t> mediante la ejecución de escenarios </a:t>
            </a:r>
            <a:r>
              <a:rPr lang="es-MX" b="1" dirty="0" err="1"/>
              <a:t>End-to-End</a:t>
            </a:r>
            <a:r>
              <a:rPr lang="es-MX" b="1" dirty="0"/>
              <a:t> (E2E)</a:t>
            </a:r>
            <a:r>
              <a:rPr lang="es-MX" dirty="0"/>
              <a:t> en un entorno controlado que simula condiciones reales de operación. Estas pruebas permitieron verificar que todos los módulos del sistema operan de manera conjunta y coherente, asegurando el cumplimiento de los requerimientos funcionales definidos desde el registro de un evento hasta la generación de pases, funcione según los requerimientos funcionales.</a:t>
            </a:r>
          </a:p>
        </p:txBody>
      </p:sp>
    </p:spTree>
    <p:extLst>
      <p:ext uri="{BB962C8B-B14F-4D97-AF65-F5344CB8AC3E}">
        <p14:creationId xmlns:p14="http://schemas.microsoft.com/office/powerpoint/2010/main" val="3965522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E1447AF-4D6C-43C1-2DCC-08E67FA2D8B2}"/>
              </a:ext>
            </a:extLst>
          </p:cNvPr>
          <p:cNvSpPr>
            <a:spLocks noGrp="1"/>
          </p:cNvSpPr>
          <p:nvPr>
            <p:ph idx="1"/>
          </p:nvPr>
        </p:nvSpPr>
        <p:spPr>
          <a:xfrm>
            <a:off x="800100" y="996950"/>
            <a:ext cx="5638800" cy="4351338"/>
          </a:xfrm>
        </p:spPr>
        <p:txBody>
          <a:bodyPr>
            <a:normAutofit/>
          </a:bodyPr>
          <a:lstStyle/>
          <a:p>
            <a:pPr marL="0" indent="0">
              <a:buNone/>
            </a:pPr>
            <a:r>
              <a:rPr lang="es-MX" b="1" dirty="0"/>
              <a:t>Pruebas de Caja Negra</a:t>
            </a:r>
          </a:p>
          <a:p>
            <a:pPr algn="just">
              <a:buFont typeface="Wingdings" panose="05000000000000000000" pitchFamily="2" charset="2"/>
              <a:buChar char="Ø"/>
            </a:pPr>
            <a:r>
              <a:rPr lang="es-MX" dirty="0"/>
              <a:t>Se realizaron pruebas desde la perspectiva del usuario final, enfocándose exclusivamente en la interfaz y la experiencia de usuario.</a:t>
            </a:r>
          </a:p>
          <a:p>
            <a:pPr marL="0" indent="0" algn="just">
              <a:buNone/>
            </a:pPr>
            <a:r>
              <a:rPr lang="es-MX" b="1" dirty="0"/>
              <a:t>Criterio:</a:t>
            </a:r>
            <a:r>
              <a:rPr lang="es-MX" dirty="0"/>
              <a:t> Se ingresaron datos válidos e inválidos para confirmar que las salidas y mensajes de error coincidan con las especificaciones, sin intervenir en el código fuente.</a:t>
            </a:r>
          </a:p>
          <a:p>
            <a:endParaRPr lang="es-MX" dirty="0"/>
          </a:p>
        </p:txBody>
      </p:sp>
      <p:pic>
        <p:nvPicPr>
          <p:cNvPr id="4" name="Imagen 3">
            <a:extLst>
              <a:ext uri="{FF2B5EF4-FFF2-40B4-BE49-F238E27FC236}">
                <a16:creationId xmlns:a16="http://schemas.microsoft.com/office/drawing/2014/main" id="{4233EA32-4029-D87B-6FD5-05684D76A0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6175" y="148167"/>
            <a:ext cx="3009900" cy="6688666"/>
          </a:xfrm>
          <a:prstGeom prst="rect">
            <a:avLst/>
          </a:prstGeom>
        </p:spPr>
      </p:pic>
    </p:spTree>
    <p:extLst>
      <p:ext uri="{BB962C8B-B14F-4D97-AF65-F5344CB8AC3E}">
        <p14:creationId xmlns:p14="http://schemas.microsoft.com/office/powerpoint/2010/main" val="179496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1D0F55-32F5-0DD4-646B-2CBA9F178C87}"/>
              </a:ext>
            </a:extLst>
          </p:cNvPr>
          <p:cNvSpPr>
            <a:spLocks noGrp="1"/>
          </p:cNvSpPr>
          <p:nvPr>
            <p:ph type="title"/>
          </p:nvPr>
        </p:nvSpPr>
        <p:spPr/>
        <p:txBody>
          <a:bodyPr/>
          <a:lstStyle/>
          <a:p>
            <a:r>
              <a:rPr lang="es-MX" b="1" dirty="0">
                <a:solidFill>
                  <a:schemeClr val="accent1"/>
                </a:solidFill>
              </a:rPr>
              <a:t>Casos de prueba</a:t>
            </a:r>
            <a:endParaRPr lang="es-MX" dirty="0">
              <a:solidFill>
                <a:schemeClr val="accent1"/>
              </a:solidFill>
            </a:endParaRPr>
          </a:p>
        </p:txBody>
      </p:sp>
      <p:graphicFrame>
        <p:nvGraphicFramePr>
          <p:cNvPr id="4" name="Marcador de contenido 3">
            <a:extLst>
              <a:ext uri="{FF2B5EF4-FFF2-40B4-BE49-F238E27FC236}">
                <a16:creationId xmlns:a16="http://schemas.microsoft.com/office/drawing/2014/main" id="{58C3848E-8839-1261-511E-CAFE27C673ED}"/>
              </a:ext>
            </a:extLst>
          </p:cNvPr>
          <p:cNvGraphicFramePr>
            <a:graphicFrameLocks noGrp="1"/>
          </p:cNvGraphicFramePr>
          <p:nvPr>
            <p:ph idx="1"/>
            <p:extLst>
              <p:ext uri="{D42A27DB-BD31-4B8C-83A1-F6EECF244321}">
                <p14:modId xmlns:p14="http://schemas.microsoft.com/office/powerpoint/2010/main" val="1495717725"/>
              </p:ext>
            </p:extLst>
          </p:nvPr>
        </p:nvGraphicFramePr>
        <p:xfrm>
          <a:off x="838200" y="2354737"/>
          <a:ext cx="10515600" cy="2829052"/>
        </p:xfrm>
        <a:graphic>
          <a:graphicData uri="http://schemas.openxmlformats.org/drawingml/2006/table">
            <a:tbl>
              <a:tblPr firstRow="1" firstCol="1" bandRow="1">
                <a:tableStyleId>{5C22544A-7EE6-4342-B048-85BDC9FD1C3A}</a:tableStyleId>
              </a:tblPr>
              <a:tblGrid>
                <a:gridCol w="619125">
                  <a:extLst>
                    <a:ext uri="{9D8B030D-6E8A-4147-A177-3AD203B41FA5}">
                      <a16:colId xmlns:a16="http://schemas.microsoft.com/office/drawing/2014/main" val="3748286767"/>
                    </a:ext>
                  </a:extLst>
                </a:gridCol>
                <a:gridCol w="2886075">
                  <a:extLst>
                    <a:ext uri="{9D8B030D-6E8A-4147-A177-3AD203B41FA5}">
                      <a16:colId xmlns:a16="http://schemas.microsoft.com/office/drawing/2014/main" val="1120495878"/>
                    </a:ext>
                  </a:extLst>
                </a:gridCol>
                <a:gridCol w="1752600">
                  <a:extLst>
                    <a:ext uri="{9D8B030D-6E8A-4147-A177-3AD203B41FA5}">
                      <a16:colId xmlns:a16="http://schemas.microsoft.com/office/drawing/2014/main" val="2444881294"/>
                    </a:ext>
                  </a:extLst>
                </a:gridCol>
                <a:gridCol w="1752600">
                  <a:extLst>
                    <a:ext uri="{9D8B030D-6E8A-4147-A177-3AD203B41FA5}">
                      <a16:colId xmlns:a16="http://schemas.microsoft.com/office/drawing/2014/main" val="1036968841"/>
                    </a:ext>
                  </a:extLst>
                </a:gridCol>
                <a:gridCol w="1752600">
                  <a:extLst>
                    <a:ext uri="{9D8B030D-6E8A-4147-A177-3AD203B41FA5}">
                      <a16:colId xmlns:a16="http://schemas.microsoft.com/office/drawing/2014/main" val="478995725"/>
                    </a:ext>
                  </a:extLst>
                </a:gridCol>
                <a:gridCol w="1752600">
                  <a:extLst>
                    <a:ext uri="{9D8B030D-6E8A-4147-A177-3AD203B41FA5}">
                      <a16:colId xmlns:a16="http://schemas.microsoft.com/office/drawing/2014/main" val="3808614660"/>
                    </a:ext>
                  </a:extLst>
                </a:gridCol>
              </a:tblGrid>
              <a:tr h="0">
                <a:tc>
                  <a:txBody>
                    <a:bodyPr/>
                    <a:lstStyle/>
                    <a:p>
                      <a:pPr>
                        <a:lnSpc>
                          <a:spcPct val="115000"/>
                        </a:lnSpc>
                        <a:spcAft>
                          <a:spcPts val="800"/>
                        </a:spcAft>
                        <a:buNone/>
                      </a:pPr>
                      <a:r>
                        <a:rPr lang="es-MX" sz="1800" kern="100">
                          <a:effectLst/>
                        </a:rPr>
                        <a:t>Caso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Descripción</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Entrada</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Resultado esperado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Resultado obtenido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Estado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98485541"/>
                  </a:ext>
                </a:extLst>
              </a:tr>
              <a:tr h="0">
                <a:tc>
                  <a:txBody>
                    <a:bodyPr/>
                    <a:lstStyle/>
                    <a:p>
                      <a:pPr>
                        <a:lnSpc>
                          <a:spcPct val="115000"/>
                        </a:lnSpc>
                        <a:spcAft>
                          <a:spcPts val="800"/>
                        </a:spcAft>
                        <a:buNone/>
                      </a:pPr>
                      <a:r>
                        <a:rPr lang="es-MX" sz="1800" kern="100">
                          <a:effectLst/>
                        </a:rPr>
                        <a:t>1</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dirty="0">
                          <a:effectLst/>
                        </a:rPr>
                        <a:t>Inicio de sesión correcto</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Datos válidos</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Acceso permitido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Correcto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24157679"/>
                  </a:ext>
                </a:extLst>
              </a:tr>
              <a:tr h="0">
                <a:tc>
                  <a:txBody>
                    <a:bodyPr/>
                    <a:lstStyle/>
                    <a:p>
                      <a:pPr>
                        <a:lnSpc>
                          <a:spcPct val="115000"/>
                        </a:lnSpc>
                        <a:spcAft>
                          <a:spcPts val="800"/>
                        </a:spcAft>
                        <a:buNone/>
                      </a:pPr>
                      <a:r>
                        <a:rPr lang="es-MX" sz="1800" kern="100">
                          <a:effectLst/>
                        </a:rPr>
                        <a:t>2</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dirty="0">
                          <a:effectLst/>
                        </a:rPr>
                        <a:t>Inicio de sesión incorrecto</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Datos erróneos</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Error de acceso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Correcto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25424419"/>
                  </a:ext>
                </a:extLst>
              </a:tr>
              <a:tr h="0">
                <a:tc>
                  <a:txBody>
                    <a:bodyPr/>
                    <a:lstStyle/>
                    <a:p>
                      <a:pPr>
                        <a:lnSpc>
                          <a:spcPct val="115000"/>
                        </a:lnSpc>
                        <a:spcAft>
                          <a:spcPts val="800"/>
                        </a:spcAft>
                        <a:buNone/>
                      </a:pPr>
                      <a:r>
                        <a:rPr lang="es-MX" sz="1800" kern="100">
                          <a:effectLst/>
                        </a:rPr>
                        <a:t>3</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Registro de invitados</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Datos completos</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Registro exitoso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Correcto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53587020"/>
                  </a:ext>
                </a:extLst>
              </a:tr>
              <a:tr h="0">
                <a:tc>
                  <a:txBody>
                    <a:bodyPr/>
                    <a:lstStyle/>
                    <a:p>
                      <a:pPr>
                        <a:lnSpc>
                          <a:spcPct val="115000"/>
                        </a:lnSpc>
                        <a:spcAft>
                          <a:spcPts val="800"/>
                        </a:spcAft>
                        <a:buNone/>
                      </a:pPr>
                      <a:r>
                        <a:rPr lang="es-MX" sz="1800" kern="100">
                          <a:effectLst/>
                        </a:rPr>
                        <a:t>4</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Generación de pase</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Datos del evento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Código generado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Correcto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54202607"/>
                  </a:ext>
                </a:extLst>
              </a:tr>
              <a:tr h="0">
                <a:tc>
                  <a:txBody>
                    <a:bodyPr/>
                    <a:lstStyle/>
                    <a:p>
                      <a:pPr>
                        <a:lnSpc>
                          <a:spcPct val="115000"/>
                        </a:lnSpc>
                        <a:spcAft>
                          <a:spcPts val="800"/>
                        </a:spcAft>
                        <a:buNone/>
                      </a:pPr>
                      <a:r>
                        <a:rPr lang="es-MX" sz="1800" kern="100">
                          <a:effectLst/>
                        </a:rPr>
                        <a:t>5</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Confirmación</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Código válido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Mostrar datos</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Correcto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97543371"/>
                  </a:ext>
                </a:extLst>
              </a:tr>
              <a:tr h="0">
                <a:tc>
                  <a:txBody>
                    <a:bodyPr/>
                    <a:lstStyle/>
                    <a:p>
                      <a:pPr>
                        <a:lnSpc>
                          <a:spcPct val="115000"/>
                        </a:lnSpc>
                        <a:spcAft>
                          <a:spcPts val="800"/>
                        </a:spcAft>
                        <a:buNone/>
                      </a:pPr>
                      <a:r>
                        <a:rPr lang="es-MX" sz="1800" kern="100">
                          <a:effectLst/>
                        </a:rPr>
                        <a:t>6</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Escaneo QR</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Código válido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Acceso permitido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Correcto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5120806"/>
                  </a:ext>
                </a:extLst>
              </a:tr>
              <a:tr h="0">
                <a:tc>
                  <a:txBody>
                    <a:bodyPr/>
                    <a:lstStyle/>
                    <a:p>
                      <a:pPr>
                        <a:lnSpc>
                          <a:spcPct val="115000"/>
                        </a:lnSpc>
                        <a:spcAft>
                          <a:spcPts val="800"/>
                        </a:spcAft>
                        <a:buNone/>
                      </a:pPr>
                      <a:r>
                        <a:rPr lang="es-MX" sz="1800" kern="100">
                          <a:effectLst/>
                        </a:rPr>
                        <a:t>7</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Código inválido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Código incorrecto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Mostrar error</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a:effectLst/>
                        </a:rPr>
                        <a:t>Correcto</a:t>
                      </a:r>
                      <a:endParaRPr lang="es-MX" sz="1800" kern="10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s-MX" sz="1800" kern="100" dirty="0">
                          <a:effectLst/>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35740721"/>
                  </a:ext>
                </a:extLst>
              </a:tr>
            </a:tbl>
          </a:graphicData>
        </a:graphic>
      </p:graphicFrame>
    </p:spTree>
    <p:extLst>
      <p:ext uri="{BB962C8B-B14F-4D97-AF65-F5344CB8AC3E}">
        <p14:creationId xmlns:p14="http://schemas.microsoft.com/office/powerpoint/2010/main" val="49310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12375C-FD6E-955C-962C-9521A430E141}"/>
              </a:ext>
            </a:extLst>
          </p:cNvPr>
          <p:cNvSpPr>
            <a:spLocks noGrp="1"/>
          </p:cNvSpPr>
          <p:nvPr>
            <p:ph type="title"/>
          </p:nvPr>
        </p:nvSpPr>
        <p:spPr/>
        <p:txBody>
          <a:bodyPr/>
          <a:lstStyle/>
          <a:p>
            <a:r>
              <a:rPr lang="es-MX" dirty="0"/>
              <a:t>Caso 1: Inicio de sesión correcto</a:t>
            </a:r>
          </a:p>
        </p:txBody>
      </p:sp>
      <p:pic>
        <p:nvPicPr>
          <p:cNvPr id="4" name="Marcador de contenido 3">
            <a:extLst>
              <a:ext uri="{FF2B5EF4-FFF2-40B4-BE49-F238E27FC236}">
                <a16:creationId xmlns:a16="http://schemas.microsoft.com/office/drawing/2014/main" id="{1F944A26-F1F0-CA01-10A8-D91F6E1FC0B5}"/>
              </a:ext>
            </a:extLst>
          </p:cNvPr>
          <p:cNvPicPr>
            <a:picLocks noGrp="1" noChangeAspect="1"/>
          </p:cNvPicPr>
          <p:nvPr>
            <p:ph idx="1"/>
          </p:nvPr>
        </p:nvPicPr>
        <p:blipFill>
          <a:blip r:embed="rId2"/>
          <a:stretch>
            <a:fillRect/>
          </a:stretch>
        </p:blipFill>
        <p:spPr>
          <a:xfrm>
            <a:off x="1123244" y="1949450"/>
            <a:ext cx="4667956" cy="2625725"/>
          </a:xfrm>
          <a:prstGeom prst="rect">
            <a:avLst/>
          </a:prstGeom>
        </p:spPr>
      </p:pic>
      <p:pic>
        <p:nvPicPr>
          <p:cNvPr id="5" name="Imagen 1">
            <a:extLst>
              <a:ext uri="{FF2B5EF4-FFF2-40B4-BE49-F238E27FC236}">
                <a16:creationId xmlns:a16="http://schemas.microsoft.com/office/drawing/2014/main" id="{DF0A5EDF-E29D-9147-ACE7-936CF97503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1301" y="1949450"/>
            <a:ext cx="4667249" cy="2627801"/>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43AC086D-13DE-31C3-91A8-3C00715C2249}"/>
              </a:ext>
            </a:extLst>
          </p:cNvPr>
          <p:cNvSpPr txBox="1"/>
          <p:nvPr/>
        </p:nvSpPr>
        <p:spPr>
          <a:xfrm>
            <a:off x="1123244" y="4704976"/>
            <a:ext cx="4553656" cy="369332"/>
          </a:xfrm>
          <a:prstGeom prst="rect">
            <a:avLst/>
          </a:prstGeom>
          <a:noFill/>
        </p:spPr>
        <p:txBody>
          <a:bodyPr wrap="square">
            <a:spAutoFit/>
          </a:bodyPr>
          <a:lstStyle/>
          <a:p>
            <a:r>
              <a:rPr lang="es-MX" dirty="0"/>
              <a:t>Ingreso de credenciales válidas</a:t>
            </a:r>
          </a:p>
        </p:txBody>
      </p:sp>
      <p:sp>
        <p:nvSpPr>
          <p:cNvPr id="9" name="CuadroTexto 8">
            <a:extLst>
              <a:ext uri="{FF2B5EF4-FFF2-40B4-BE49-F238E27FC236}">
                <a16:creationId xmlns:a16="http://schemas.microsoft.com/office/drawing/2014/main" id="{FEB0ACAD-9722-7752-DD70-5728ED04B8D1}"/>
              </a:ext>
            </a:extLst>
          </p:cNvPr>
          <p:cNvSpPr txBox="1"/>
          <p:nvPr/>
        </p:nvSpPr>
        <p:spPr>
          <a:xfrm>
            <a:off x="6791325" y="4704976"/>
            <a:ext cx="4467225" cy="369332"/>
          </a:xfrm>
          <a:prstGeom prst="rect">
            <a:avLst/>
          </a:prstGeom>
          <a:noFill/>
        </p:spPr>
        <p:txBody>
          <a:bodyPr wrap="square">
            <a:spAutoFit/>
          </a:bodyPr>
          <a:lstStyle/>
          <a:p>
            <a:r>
              <a:rPr lang="es-MX" dirty="0"/>
              <a:t>Acceso exitoso al sistema</a:t>
            </a:r>
          </a:p>
        </p:txBody>
      </p:sp>
    </p:spTree>
    <p:extLst>
      <p:ext uri="{BB962C8B-B14F-4D97-AF65-F5344CB8AC3E}">
        <p14:creationId xmlns:p14="http://schemas.microsoft.com/office/powerpoint/2010/main" val="1572062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11C1A3-A061-D050-6724-08F4DE6CEED1}"/>
              </a:ext>
            </a:extLst>
          </p:cNvPr>
          <p:cNvSpPr>
            <a:spLocks noGrp="1"/>
          </p:cNvSpPr>
          <p:nvPr>
            <p:ph type="title"/>
          </p:nvPr>
        </p:nvSpPr>
        <p:spPr/>
        <p:txBody>
          <a:bodyPr/>
          <a:lstStyle/>
          <a:p>
            <a:r>
              <a:rPr lang="es-MX" dirty="0"/>
              <a:t>Caso 2: Inicio de sesión incorrecto</a:t>
            </a:r>
          </a:p>
        </p:txBody>
      </p:sp>
      <p:pic>
        <p:nvPicPr>
          <p:cNvPr id="5" name="Marcador de contenido 4">
            <a:extLst>
              <a:ext uri="{FF2B5EF4-FFF2-40B4-BE49-F238E27FC236}">
                <a16:creationId xmlns:a16="http://schemas.microsoft.com/office/drawing/2014/main" id="{AB4258E8-338A-1022-E73E-FE40518812D4}"/>
              </a:ext>
            </a:extLst>
          </p:cNvPr>
          <p:cNvPicPr>
            <a:picLocks noGrp="1" noChangeAspect="1"/>
          </p:cNvPicPr>
          <p:nvPr>
            <p:ph idx="1"/>
          </p:nvPr>
        </p:nvPicPr>
        <p:blipFill>
          <a:blip r:embed="rId2"/>
          <a:stretch>
            <a:fillRect/>
          </a:stretch>
        </p:blipFill>
        <p:spPr>
          <a:xfrm>
            <a:off x="2228144" y="1358900"/>
            <a:ext cx="7735712" cy="4351338"/>
          </a:xfrm>
          <a:prstGeom prst="rect">
            <a:avLst/>
          </a:prstGeom>
        </p:spPr>
      </p:pic>
      <p:sp>
        <p:nvSpPr>
          <p:cNvPr id="7" name="CuadroTexto 6">
            <a:extLst>
              <a:ext uri="{FF2B5EF4-FFF2-40B4-BE49-F238E27FC236}">
                <a16:creationId xmlns:a16="http://schemas.microsoft.com/office/drawing/2014/main" id="{BB83CAF6-1C4D-7EEC-D11D-7472284C1E97}"/>
              </a:ext>
            </a:extLst>
          </p:cNvPr>
          <p:cNvSpPr txBox="1"/>
          <p:nvPr/>
        </p:nvSpPr>
        <p:spPr>
          <a:xfrm>
            <a:off x="2228144" y="5710238"/>
            <a:ext cx="6915856" cy="369332"/>
          </a:xfrm>
          <a:prstGeom prst="rect">
            <a:avLst/>
          </a:prstGeom>
          <a:noFill/>
        </p:spPr>
        <p:txBody>
          <a:bodyPr wrap="square">
            <a:spAutoFit/>
          </a:bodyPr>
          <a:lstStyle/>
          <a:p>
            <a:r>
              <a:rPr lang="es-MX" dirty="0"/>
              <a:t>Ingreso de credenciales incorrectas y mensaje de error del sistema</a:t>
            </a:r>
          </a:p>
        </p:txBody>
      </p:sp>
    </p:spTree>
    <p:extLst>
      <p:ext uri="{BB962C8B-B14F-4D97-AF65-F5344CB8AC3E}">
        <p14:creationId xmlns:p14="http://schemas.microsoft.com/office/powerpoint/2010/main" val="3597292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7B043FF-D2FB-C1DB-C2CD-F8480B93D99C}"/>
              </a:ext>
            </a:extLst>
          </p:cNvPr>
          <p:cNvPicPr>
            <a:picLocks noChangeAspect="1"/>
          </p:cNvPicPr>
          <p:nvPr/>
        </p:nvPicPr>
        <p:blipFill>
          <a:blip r:embed="rId2"/>
          <a:stretch>
            <a:fillRect/>
          </a:stretch>
        </p:blipFill>
        <p:spPr>
          <a:xfrm>
            <a:off x="2609850" y="1491616"/>
            <a:ext cx="6457949" cy="3632596"/>
          </a:xfrm>
          <a:prstGeom prst="rect">
            <a:avLst/>
          </a:prstGeom>
        </p:spPr>
      </p:pic>
      <p:sp>
        <p:nvSpPr>
          <p:cNvPr id="9" name="CuadroTexto 8">
            <a:extLst>
              <a:ext uri="{FF2B5EF4-FFF2-40B4-BE49-F238E27FC236}">
                <a16:creationId xmlns:a16="http://schemas.microsoft.com/office/drawing/2014/main" id="{61F2F2F6-71EB-F01C-58A6-343CDCB2FDAE}"/>
              </a:ext>
            </a:extLst>
          </p:cNvPr>
          <p:cNvSpPr txBox="1"/>
          <p:nvPr/>
        </p:nvSpPr>
        <p:spPr>
          <a:xfrm>
            <a:off x="2733676" y="5391150"/>
            <a:ext cx="6334123" cy="646331"/>
          </a:xfrm>
          <a:prstGeom prst="rect">
            <a:avLst/>
          </a:prstGeom>
          <a:noFill/>
        </p:spPr>
        <p:txBody>
          <a:bodyPr wrap="square">
            <a:spAutoFit/>
          </a:bodyPr>
          <a:lstStyle/>
          <a:p>
            <a:pPr algn="just"/>
            <a:r>
              <a:rPr lang="es-MX" dirty="0"/>
              <a:t>Ingreso de datos del invitado y selección de mesa en el formulario de creación de pases del sistema </a:t>
            </a:r>
            <a:r>
              <a:rPr lang="es-MX" dirty="0" err="1"/>
              <a:t>EventControl</a:t>
            </a:r>
            <a:endParaRPr lang="es-MX" dirty="0"/>
          </a:p>
        </p:txBody>
      </p:sp>
      <p:sp>
        <p:nvSpPr>
          <p:cNvPr id="18" name="Título 1">
            <a:extLst>
              <a:ext uri="{FF2B5EF4-FFF2-40B4-BE49-F238E27FC236}">
                <a16:creationId xmlns:a16="http://schemas.microsoft.com/office/drawing/2014/main" id="{1C10975B-96F7-5A56-B752-B1AAE4021658}"/>
              </a:ext>
            </a:extLst>
          </p:cNvPr>
          <p:cNvSpPr>
            <a:spLocks noGrp="1"/>
          </p:cNvSpPr>
          <p:nvPr>
            <p:ph type="title"/>
          </p:nvPr>
        </p:nvSpPr>
        <p:spPr>
          <a:xfrm>
            <a:off x="838200" y="365125"/>
            <a:ext cx="10515600" cy="1325563"/>
          </a:xfrm>
        </p:spPr>
        <p:txBody>
          <a:bodyPr/>
          <a:lstStyle/>
          <a:p>
            <a:r>
              <a:rPr lang="es-MX" dirty="0"/>
              <a:t>Caso 3: Registro de invitados</a:t>
            </a:r>
          </a:p>
        </p:txBody>
      </p:sp>
    </p:spTree>
    <p:extLst>
      <p:ext uri="{BB962C8B-B14F-4D97-AF65-F5344CB8AC3E}">
        <p14:creationId xmlns:p14="http://schemas.microsoft.com/office/powerpoint/2010/main" val="890860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74A63-E36F-0679-DD5A-A188FBAAC926}"/>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495C4370-8BB2-CA3D-599E-A7702083202B}"/>
              </a:ext>
            </a:extLst>
          </p:cNvPr>
          <p:cNvPicPr>
            <a:picLocks noChangeAspect="1"/>
          </p:cNvPicPr>
          <p:nvPr/>
        </p:nvPicPr>
        <p:blipFill>
          <a:blip r:embed="rId2"/>
          <a:stretch>
            <a:fillRect/>
          </a:stretch>
        </p:blipFill>
        <p:spPr>
          <a:xfrm>
            <a:off x="981075" y="1487284"/>
            <a:ext cx="5041900" cy="2770391"/>
          </a:xfrm>
          <a:prstGeom prst="rect">
            <a:avLst/>
          </a:prstGeom>
        </p:spPr>
      </p:pic>
      <p:sp>
        <p:nvSpPr>
          <p:cNvPr id="11" name="CuadroTexto 10">
            <a:extLst>
              <a:ext uri="{FF2B5EF4-FFF2-40B4-BE49-F238E27FC236}">
                <a16:creationId xmlns:a16="http://schemas.microsoft.com/office/drawing/2014/main" id="{1A7E35D4-FF2B-FB12-3C48-C01B97841BA5}"/>
              </a:ext>
            </a:extLst>
          </p:cNvPr>
          <p:cNvSpPr txBox="1"/>
          <p:nvPr/>
        </p:nvSpPr>
        <p:spPr>
          <a:xfrm>
            <a:off x="981075" y="4533900"/>
            <a:ext cx="5041900" cy="923330"/>
          </a:xfrm>
          <a:prstGeom prst="rect">
            <a:avLst/>
          </a:prstGeom>
          <a:noFill/>
        </p:spPr>
        <p:txBody>
          <a:bodyPr wrap="square">
            <a:spAutoFit/>
          </a:bodyPr>
          <a:lstStyle/>
          <a:p>
            <a:pPr algn="just"/>
            <a:r>
              <a:rPr lang="es-MX" dirty="0"/>
              <a:t>Generación exitosa del pase, mostrando el código de acceso asignado al invitado dentro del sistema </a:t>
            </a:r>
            <a:r>
              <a:rPr lang="es-MX" dirty="0" err="1"/>
              <a:t>EventControl</a:t>
            </a:r>
            <a:r>
              <a:rPr lang="es-MX" dirty="0"/>
              <a:t>.</a:t>
            </a:r>
          </a:p>
        </p:txBody>
      </p:sp>
      <p:sp>
        <p:nvSpPr>
          <p:cNvPr id="2" name="Título 1">
            <a:extLst>
              <a:ext uri="{FF2B5EF4-FFF2-40B4-BE49-F238E27FC236}">
                <a16:creationId xmlns:a16="http://schemas.microsoft.com/office/drawing/2014/main" id="{22CF74CA-4BBD-D808-92BA-C9EBDD62208A}"/>
              </a:ext>
            </a:extLst>
          </p:cNvPr>
          <p:cNvSpPr>
            <a:spLocks noGrp="1"/>
          </p:cNvSpPr>
          <p:nvPr>
            <p:ph type="title"/>
          </p:nvPr>
        </p:nvSpPr>
        <p:spPr>
          <a:xfrm>
            <a:off x="838200" y="365125"/>
            <a:ext cx="10515600" cy="1325563"/>
          </a:xfrm>
        </p:spPr>
        <p:txBody>
          <a:bodyPr/>
          <a:lstStyle/>
          <a:p>
            <a:r>
              <a:rPr lang="es-MX" dirty="0"/>
              <a:t>Caso 4: Generación de pase</a:t>
            </a:r>
          </a:p>
        </p:txBody>
      </p:sp>
      <p:pic>
        <p:nvPicPr>
          <p:cNvPr id="3" name="Imagen 2">
            <a:extLst>
              <a:ext uri="{FF2B5EF4-FFF2-40B4-BE49-F238E27FC236}">
                <a16:creationId xmlns:a16="http://schemas.microsoft.com/office/drawing/2014/main" id="{1AB3959B-F903-4D9C-DA94-9D5E70D047AA}"/>
              </a:ext>
            </a:extLst>
          </p:cNvPr>
          <p:cNvPicPr>
            <a:picLocks noChangeAspect="1"/>
          </p:cNvPicPr>
          <p:nvPr/>
        </p:nvPicPr>
        <p:blipFill>
          <a:blip r:embed="rId3"/>
          <a:stretch>
            <a:fillRect/>
          </a:stretch>
        </p:blipFill>
        <p:spPr>
          <a:xfrm>
            <a:off x="6375663" y="1487284"/>
            <a:ext cx="4835262" cy="2719835"/>
          </a:xfrm>
          <a:prstGeom prst="rect">
            <a:avLst/>
          </a:prstGeom>
        </p:spPr>
      </p:pic>
      <p:sp>
        <p:nvSpPr>
          <p:cNvPr id="4" name="CuadroTexto 3">
            <a:extLst>
              <a:ext uri="{FF2B5EF4-FFF2-40B4-BE49-F238E27FC236}">
                <a16:creationId xmlns:a16="http://schemas.microsoft.com/office/drawing/2014/main" id="{97B204BA-F251-3DB8-B854-A16F52B4F8C4}"/>
              </a:ext>
            </a:extLst>
          </p:cNvPr>
          <p:cNvSpPr txBox="1"/>
          <p:nvPr/>
        </p:nvSpPr>
        <p:spPr>
          <a:xfrm>
            <a:off x="6375663" y="4287634"/>
            <a:ext cx="4978137" cy="1200329"/>
          </a:xfrm>
          <a:prstGeom prst="rect">
            <a:avLst/>
          </a:prstGeom>
          <a:noFill/>
        </p:spPr>
        <p:txBody>
          <a:bodyPr wrap="square">
            <a:spAutoFit/>
          </a:bodyPr>
          <a:lstStyle/>
          <a:p>
            <a:pPr algn="just"/>
            <a:r>
              <a:rPr lang="es-MX" dirty="0"/>
              <a:t>Generación mensaje para confirmación de asistencia mediante WhatsApp, permitiendo al usuario enviar la invitación digital con enlace y código de acceso.</a:t>
            </a:r>
          </a:p>
        </p:txBody>
      </p:sp>
    </p:spTree>
    <p:extLst>
      <p:ext uri="{BB962C8B-B14F-4D97-AF65-F5344CB8AC3E}">
        <p14:creationId xmlns:p14="http://schemas.microsoft.com/office/powerpoint/2010/main" val="2102151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9EEBD822-0444-4AE0-80A8-C030B52349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109" y="1749503"/>
            <a:ext cx="1881664" cy="4181475"/>
          </a:xfrm>
          <a:prstGeom prst="rect">
            <a:avLst/>
          </a:prstGeom>
        </p:spPr>
      </p:pic>
      <p:pic>
        <p:nvPicPr>
          <p:cNvPr id="9" name="Imagen 8">
            <a:extLst>
              <a:ext uri="{FF2B5EF4-FFF2-40B4-BE49-F238E27FC236}">
                <a16:creationId xmlns:a16="http://schemas.microsoft.com/office/drawing/2014/main" id="{AA4F2508-57CA-F4DC-789C-3A58D11E63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9317" y="1749503"/>
            <a:ext cx="1881664" cy="4181476"/>
          </a:xfrm>
          <a:prstGeom prst="rect">
            <a:avLst/>
          </a:prstGeom>
        </p:spPr>
      </p:pic>
      <p:pic>
        <p:nvPicPr>
          <p:cNvPr id="15" name="Imagen 14">
            <a:extLst>
              <a:ext uri="{FF2B5EF4-FFF2-40B4-BE49-F238E27FC236}">
                <a16:creationId xmlns:a16="http://schemas.microsoft.com/office/drawing/2014/main" id="{8F7B6E2A-2A6A-B0F8-6FAA-56861DE1DB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5988" y="1749503"/>
            <a:ext cx="1881664" cy="4181475"/>
          </a:xfrm>
          <a:prstGeom prst="rect">
            <a:avLst/>
          </a:prstGeom>
        </p:spPr>
      </p:pic>
      <p:sp>
        <p:nvSpPr>
          <p:cNvPr id="17" name="CuadroTexto 16">
            <a:extLst>
              <a:ext uri="{FF2B5EF4-FFF2-40B4-BE49-F238E27FC236}">
                <a16:creationId xmlns:a16="http://schemas.microsoft.com/office/drawing/2014/main" id="{19E62DCD-E7F0-5C6B-2925-87C22BD6ACA0}"/>
              </a:ext>
            </a:extLst>
          </p:cNvPr>
          <p:cNvSpPr txBox="1"/>
          <p:nvPr/>
        </p:nvSpPr>
        <p:spPr>
          <a:xfrm>
            <a:off x="2560082" y="3840240"/>
            <a:ext cx="1457325" cy="1754326"/>
          </a:xfrm>
          <a:prstGeom prst="rect">
            <a:avLst/>
          </a:prstGeom>
          <a:noFill/>
        </p:spPr>
        <p:txBody>
          <a:bodyPr wrap="square">
            <a:spAutoFit/>
          </a:bodyPr>
          <a:lstStyle/>
          <a:p>
            <a:pPr algn="just"/>
            <a:r>
              <a:rPr lang="es-MX" dirty="0"/>
              <a:t>Recepción de invitación vía WhatsApp con enlace y código de acceso</a:t>
            </a:r>
          </a:p>
        </p:txBody>
      </p:sp>
      <p:sp>
        <p:nvSpPr>
          <p:cNvPr id="19" name="CuadroTexto 18">
            <a:extLst>
              <a:ext uri="{FF2B5EF4-FFF2-40B4-BE49-F238E27FC236}">
                <a16:creationId xmlns:a16="http://schemas.microsoft.com/office/drawing/2014/main" id="{77668132-B808-8284-7A2F-570E82CF59FE}"/>
              </a:ext>
            </a:extLst>
          </p:cNvPr>
          <p:cNvSpPr txBox="1"/>
          <p:nvPr/>
        </p:nvSpPr>
        <p:spPr>
          <a:xfrm>
            <a:off x="6077307" y="3705998"/>
            <a:ext cx="1702355" cy="1200329"/>
          </a:xfrm>
          <a:prstGeom prst="rect">
            <a:avLst/>
          </a:prstGeom>
          <a:noFill/>
        </p:spPr>
        <p:txBody>
          <a:bodyPr wrap="square">
            <a:spAutoFit/>
          </a:bodyPr>
          <a:lstStyle/>
          <a:p>
            <a:r>
              <a:rPr lang="es-MX" dirty="0"/>
              <a:t>Ingreso y confirmación del código en la plataforma web</a:t>
            </a:r>
          </a:p>
        </p:txBody>
      </p:sp>
      <p:sp>
        <p:nvSpPr>
          <p:cNvPr id="21" name="CuadroTexto 20">
            <a:extLst>
              <a:ext uri="{FF2B5EF4-FFF2-40B4-BE49-F238E27FC236}">
                <a16:creationId xmlns:a16="http://schemas.microsoft.com/office/drawing/2014/main" id="{C71EDEF2-1B28-9D7C-05D4-E62FC69A4066}"/>
              </a:ext>
            </a:extLst>
          </p:cNvPr>
          <p:cNvSpPr txBox="1"/>
          <p:nvPr/>
        </p:nvSpPr>
        <p:spPr>
          <a:xfrm>
            <a:off x="9930290" y="2551837"/>
            <a:ext cx="2014060" cy="1754326"/>
          </a:xfrm>
          <a:prstGeom prst="rect">
            <a:avLst/>
          </a:prstGeom>
          <a:noFill/>
        </p:spPr>
        <p:txBody>
          <a:bodyPr wrap="square">
            <a:spAutoFit/>
          </a:bodyPr>
          <a:lstStyle/>
          <a:p>
            <a:pPr algn="just"/>
            <a:r>
              <a:rPr lang="es-MX" dirty="0"/>
              <a:t>Confirmación exitosa del invitado con generación de pase digital y asignación de mesa.</a:t>
            </a:r>
          </a:p>
        </p:txBody>
      </p:sp>
      <p:sp>
        <p:nvSpPr>
          <p:cNvPr id="22" name="Título 1">
            <a:extLst>
              <a:ext uri="{FF2B5EF4-FFF2-40B4-BE49-F238E27FC236}">
                <a16:creationId xmlns:a16="http://schemas.microsoft.com/office/drawing/2014/main" id="{97DFF0A2-8806-21CC-76FD-624E4DDC452D}"/>
              </a:ext>
            </a:extLst>
          </p:cNvPr>
          <p:cNvSpPr>
            <a:spLocks noGrp="1"/>
          </p:cNvSpPr>
          <p:nvPr>
            <p:ph type="title"/>
          </p:nvPr>
        </p:nvSpPr>
        <p:spPr>
          <a:xfrm>
            <a:off x="838200" y="365125"/>
            <a:ext cx="10515600" cy="1325563"/>
          </a:xfrm>
        </p:spPr>
        <p:txBody>
          <a:bodyPr/>
          <a:lstStyle/>
          <a:p>
            <a:r>
              <a:rPr lang="es-MX" b="1" dirty="0"/>
              <a:t>Caso 5: Confirmación</a:t>
            </a:r>
            <a:endParaRPr lang="es-MX" dirty="0"/>
          </a:p>
        </p:txBody>
      </p:sp>
    </p:spTree>
    <p:extLst>
      <p:ext uri="{BB962C8B-B14F-4D97-AF65-F5344CB8AC3E}">
        <p14:creationId xmlns:p14="http://schemas.microsoft.com/office/powerpoint/2010/main" val="1267618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DD5C24-2890-23EC-8036-358EDA0D4660}"/>
              </a:ext>
            </a:extLst>
          </p:cNvPr>
          <p:cNvSpPr>
            <a:spLocks noGrp="1"/>
          </p:cNvSpPr>
          <p:nvPr>
            <p:ph type="title"/>
          </p:nvPr>
        </p:nvSpPr>
        <p:spPr/>
        <p:txBody>
          <a:bodyPr/>
          <a:lstStyle/>
          <a:p>
            <a:r>
              <a:rPr lang="es-MX" dirty="0"/>
              <a:t>Caso 6: Escaneo QR</a:t>
            </a:r>
          </a:p>
        </p:txBody>
      </p:sp>
      <p:sp>
        <p:nvSpPr>
          <p:cNvPr id="3" name="Marcador de contenido 2">
            <a:extLst>
              <a:ext uri="{FF2B5EF4-FFF2-40B4-BE49-F238E27FC236}">
                <a16:creationId xmlns:a16="http://schemas.microsoft.com/office/drawing/2014/main" id="{573ED64B-ACAB-33DF-A104-A900130FF833}"/>
              </a:ext>
            </a:extLst>
          </p:cNvPr>
          <p:cNvSpPr>
            <a:spLocks noGrp="1"/>
          </p:cNvSpPr>
          <p:nvPr>
            <p:ph idx="1"/>
          </p:nvPr>
        </p:nvSpPr>
        <p:spPr/>
        <p:txBody>
          <a:bodyPr/>
          <a:lstStyle/>
          <a:p>
            <a:endParaRPr lang="es-MX" dirty="0"/>
          </a:p>
        </p:txBody>
      </p:sp>
    </p:spTree>
    <p:extLst>
      <p:ext uri="{BB962C8B-B14F-4D97-AF65-F5344CB8AC3E}">
        <p14:creationId xmlns:p14="http://schemas.microsoft.com/office/powerpoint/2010/main" val="2349848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786BA1D-6142-9045-EF1F-A9B8064454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0401" y="1812922"/>
            <a:ext cx="1828800" cy="4064000"/>
          </a:xfrm>
          <a:prstGeom prst="rect">
            <a:avLst/>
          </a:prstGeom>
        </p:spPr>
      </p:pic>
      <p:sp>
        <p:nvSpPr>
          <p:cNvPr id="7" name="CuadroTexto 6">
            <a:extLst>
              <a:ext uri="{FF2B5EF4-FFF2-40B4-BE49-F238E27FC236}">
                <a16:creationId xmlns:a16="http://schemas.microsoft.com/office/drawing/2014/main" id="{92589852-60D2-CFD1-08FD-6D9D9ADD7204}"/>
              </a:ext>
            </a:extLst>
          </p:cNvPr>
          <p:cNvSpPr txBox="1"/>
          <p:nvPr/>
        </p:nvSpPr>
        <p:spPr>
          <a:xfrm>
            <a:off x="3228977" y="2992735"/>
            <a:ext cx="3257550" cy="1477328"/>
          </a:xfrm>
          <a:prstGeom prst="rect">
            <a:avLst/>
          </a:prstGeom>
          <a:noFill/>
        </p:spPr>
        <p:txBody>
          <a:bodyPr wrap="square">
            <a:spAutoFit/>
          </a:bodyPr>
          <a:lstStyle/>
          <a:p>
            <a:pPr algn="just"/>
            <a:r>
              <a:rPr lang="es-MX" dirty="0"/>
              <a:t>Error durante la descarga del pase digital, donde el sistema notifica al usuario la imposibilidad de generar la imagen y sugiere una alternativa</a:t>
            </a:r>
          </a:p>
        </p:txBody>
      </p:sp>
      <p:pic>
        <p:nvPicPr>
          <p:cNvPr id="9" name="Imagen 8">
            <a:extLst>
              <a:ext uri="{FF2B5EF4-FFF2-40B4-BE49-F238E27FC236}">
                <a16:creationId xmlns:a16="http://schemas.microsoft.com/office/drawing/2014/main" id="{980B48FC-64F6-CAA5-73CC-F91681EDC2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1777" y="1812925"/>
            <a:ext cx="1828799" cy="4063997"/>
          </a:xfrm>
          <a:prstGeom prst="rect">
            <a:avLst/>
          </a:prstGeom>
        </p:spPr>
      </p:pic>
      <p:sp>
        <p:nvSpPr>
          <p:cNvPr id="11" name="CuadroTexto 10">
            <a:extLst>
              <a:ext uri="{FF2B5EF4-FFF2-40B4-BE49-F238E27FC236}">
                <a16:creationId xmlns:a16="http://schemas.microsoft.com/office/drawing/2014/main" id="{1E67AB03-DE98-FB39-CFCF-CEAD8D287D50}"/>
              </a:ext>
            </a:extLst>
          </p:cNvPr>
          <p:cNvSpPr txBox="1"/>
          <p:nvPr/>
        </p:nvSpPr>
        <p:spPr>
          <a:xfrm>
            <a:off x="8635602" y="2992735"/>
            <a:ext cx="3556398" cy="1477328"/>
          </a:xfrm>
          <a:prstGeom prst="rect">
            <a:avLst/>
          </a:prstGeom>
          <a:noFill/>
        </p:spPr>
        <p:txBody>
          <a:bodyPr wrap="square">
            <a:spAutoFit/>
          </a:bodyPr>
          <a:lstStyle/>
          <a:p>
            <a:pPr algn="just">
              <a:buNone/>
            </a:pPr>
            <a:r>
              <a:rPr lang="es-MX" dirty="0"/>
              <a:t>Validación de código inválido en el sistema </a:t>
            </a:r>
            <a:r>
              <a:rPr lang="es-MX" dirty="0" err="1"/>
              <a:t>EventControl</a:t>
            </a:r>
            <a:r>
              <a:rPr lang="es-MX" dirty="0"/>
              <a:t>, mostrando el mensaje de error “Código no encontrado” ante el ingreso de datos incorrectos.</a:t>
            </a:r>
          </a:p>
        </p:txBody>
      </p:sp>
      <p:sp>
        <p:nvSpPr>
          <p:cNvPr id="12" name="Título 1">
            <a:extLst>
              <a:ext uri="{FF2B5EF4-FFF2-40B4-BE49-F238E27FC236}">
                <a16:creationId xmlns:a16="http://schemas.microsoft.com/office/drawing/2014/main" id="{FDE128FC-D95F-3A85-FFCD-ACAC7883984F}"/>
              </a:ext>
            </a:extLst>
          </p:cNvPr>
          <p:cNvSpPr>
            <a:spLocks noGrp="1"/>
          </p:cNvSpPr>
          <p:nvPr>
            <p:ph type="title"/>
          </p:nvPr>
        </p:nvSpPr>
        <p:spPr>
          <a:xfrm>
            <a:off x="838200" y="365125"/>
            <a:ext cx="10515600" cy="1325563"/>
          </a:xfrm>
        </p:spPr>
        <p:txBody>
          <a:bodyPr/>
          <a:lstStyle/>
          <a:p>
            <a:r>
              <a:rPr lang="es-MX" dirty="0"/>
              <a:t>Caso 7: Código inválido</a:t>
            </a:r>
          </a:p>
        </p:txBody>
      </p:sp>
    </p:spTree>
    <p:extLst>
      <p:ext uri="{BB962C8B-B14F-4D97-AF65-F5344CB8AC3E}">
        <p14:creationId xmlns:p14="http://schemas.microsoft.com/office/powerpoint/2010/main" val="27189785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172689-4597-0EA3-15C6-9DCD8881C670}"/>
              </a:ext>
            </a:extLst>
          </p:cNvPr>
          <p:cNvSpPr>
            <a:spLocks noGrp="1"/>
          </p:cNvSpPr>
          <p:nvPr>
            <p:ph type="title"/>
          </p:nvPr>
        </p:nvSpPr>
        <p:spPr/>
        <p:txBody>
          <a:bodyPr/>
          <a:lstStyle/>
          <a:p>
            <a:r>
              <a:rPr lang="es-MX" b="1" dirty="0">
                <a:solidFill>
                  <a:schemeClr val="accent1"/>
                </a:solidFill>
              </a:rPr>
              <a:t>Resultados obtenidos</a:t>
            </a:r>
            <a:endParaRPr lang="es-MX" dirty="0">
              <a:solidFill>
                <a:schemeClr val="accent1"/>
              </a:solidFill>
            </a:endParaRPr>
          </a:p>
        </p:txBody>
      </p:sp>
      <p:sp>
        <p:nvSpPr>
          <p:cNvPr id="3" name="Marcador de contenido 2">
            <a:extLst>
              <a:ext uri="{FF2B5EF4-FFF2-40B4-BE49-F238E27FC236}">
                <a16:creationId xmlns:a16="http://schemas.microsoft.com/office/drawing/2014/main" id="{932ADA9A-32DF-761B-3DFE-4B5EFF3914C4}"/>
              </a:ext>
            </a:extLst>
          </p:cNvPr>
          <p:cNvSpPr>
            <a:spLocks noGrp="1"/>
          </p:cNvSpPr>
          <p:nvPr>
            <p:ph idx="1"/>
          </p:nvPr>
        </p:nvSpPr>
        <p:spPr/>
        <p:txBody>
          <a:bodyPr>
            <a:normAutofit fontScale="85000" lnSpcReduction="10000"/>
          </a:bodyPr>
          <a:lstStyle/>
          <a:p>
            <a:pPr algn="just">
              <a:buFont typeface="Wingdings" panose="05000000000000000000" pitchFamily="2" charset="2"/>
              <a:buChar char="Ø"/>
            </a:pPr>
            <a:r>
              <a:rPr lang="es-MX" dirty="0"/>
              <a:t>Durante la realización de las pruebas, el sistema </a:t>
            </a:r>
            <a:r>
              <a:rPr lang="es-MX" dirty="0" err="1"/>
              <a:t>EventControl</a:t>
            </a:r>
            <a:r>
              <a:rPr lang="es-MX" dirty="0"/>
              <a:t> mostró un comportamiento adecuado, cumpliendo con los resultados esperados en la mayoría de los casos evaluados.</a:t>
            </a:r>
          </a:p>
          <a:p>
            <a:pPr algn="just">
              <a:buFont typeface="Wingdings" panose="05000000000000000000" pitchFamily="2" charset="2"/>
              <a:buChar char="Ø"/>
            </a:pPr>
            <a:r>
              <a:rPr lang="es-MX" dirty="0"/>
              <a:t>Se logró validar el correcto funcionamiento de los principales módulos, incluyendo la gestión de invitados, la generación de pases con código QR y el control de acceso, confirmando que el flujo del sistema opera de manera continua y sin fallos críticos.</a:t>
            </a:r>
          </a:p>
          <a:p>
            <a:pPr algn="just">
              <a:buFont typeface="Wingdings" panose="05000000000000000000" pitchFamily="2" charset="2"/>
              <a:buChar char="Ø"/>
            </a:pPr>
            <a:r>
              <a:rPr lang="es-MX" dirty="0"/>
              <a:t>Asimismo, se detectaron algunos detalles menores, principalmente relacionados con validaciones de entrada y aspectos visuales en ciertos dispositivos. Estos fueron corregidos durante el proceso, lo que permitió mejorar la estabilidad y el desempeño general del sistema.</a:t>
            </a:r>
          </a:p>
          <a:p>
            <a:pPr algn="just">
              <a:buFont typeface="Wingdings" panose="05000000000000000000" pitchFamily="2" charset="2"/>
              <a:buChar char="Ø"/>
            </a:pPr>
            <a:r>
              <a:rPr lang="es-MX" dirty="0"/>
              <a:t>los resultados obtenidos indican que el sistema cumple con los requerimientos funcionales establecidos y se encuentra en condiciones adecuadas para su uso.</a:t>
            </a:r>
          </a:p>
          <a:p>
            <a:pPr algn="just"/>
            <a:endParaRPr lang="es-MX" dirty="0"/>
          </a:p>
          <a:p>
            <a:endParaRPr lang="es-MX" dirty="0"/>
          </a:p>
        </p:txBody>
      </p:sp>
    </p:spTree>
    <p:extLst>
      <p:ext uri="{BB962C8B-B14F-4D97-AF65-F5344CB8AC3E}">
        <p14:creationId xmlns:p14="http://schemas.microsoft.com/office/powerpoint/2010/main" val="1453228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32A2C708-27F6-83BD-4346-1D0BC8D7D2A7}"/>
              </a:ext>
            </a:extLst>
          </p:cNvPr>
          <p:cNvPicPr>
            <a:picLocks noGrp="1" noChangeAspect="1"/>
          </p:cNvPicPr>
          <p:nvPr>
            <p:ph idx="1"/>
          </p:nvPr>
        </p:nvPicPr>
        <p:blipFill>
          <a:blip r:embed="rId2"/>
          <a:stretch>
            <a:fillRect/>
          </a:stretch>
        </p:blipFill>
        <p:spPr>
          <a:xfrm>
            <a:off x="1008945" y="11410"/>
            <a:ext cx="8726311" cy="4908550"/>
          </a:xfrm>
          <a:prstGeom prst="rect">
            <a:avLst/>
          </a:prstGeom>
        </p:spPr>
      </p:pic>
      <p:sp>
        <p:nvSpPr>
          <p:cNvPr id="7" name="CuadroTexto 6">
            <a:extLst>
              <a:ext uri="{FF2B5EF4-FFF2-40B4-BE49-F238E27FC236}">
                <a16:creationId xmlns:a16="http://schemas.microsoft.com/office/drawing/2014/main" id="{CE0C4560-F8C6-9BC1-7658-AF5AB8648CE7}"/>
              </a:ext>
            </a:extLst>
          </p:cNvPr>
          <p:cNvSpPr txBox="1"/>
          <p:nvPr/>
        </p:nvSpPr>
        <p:spPr>
          <a:xfrm>
            <a:off x="1008945" y="4919960"/>
            <a:ext cx="8726310" cy="646331"/>
          </a:xfrm>
          <a:prstGeom prst="rect">
            <a:avLst/>
          </a:prstGeom>
          <a:noFill/>
        </p:spPr>
        <p:txBody>
          <a:bodyPr wrap="square">
            <a:spAutoFit/>
          </a:bodyPr>
          <a:lstStyle/>
          <a:p>
            <a:r>
              <a:rPr lang="es-MX" dirty="0"/>
              <a:t>Panel administrativo del sistema </a:t>
            </a:r>
            <a:r>
              <a:rPr lang="es-MX" dirty="0" err="1"/>
              <a:t>EventControl</a:t>
            </a:r>
            <a:r>
              <a:rPr lang="es-MX" dirty="0"/>
              <a:t> mostrando la gestión de invitados, estados de confirmación y asignación de mesas durante las pruebas realizadas</a:t>
            </a:r>
          </a:p>
        </p:txBody>
      </p:sp>
    </p:spTree>
    <p:extLst>
      <p:ext uri="{BB962C8B-B14F-4D97-AF65-F5344CB8AC3E}">
        <p14:creationId xmlns:p14="http://schemas.microsoft.com/office/powerpoint/2010/main" val="2748243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456E37-F881-F5D8-A7E7-CBD78D6C22A6}"/>
              </a:ext>
            </a:extLst>
          </p:cNvPr>
          <p:cNvSpPr>
            <a:spLocks noGrp="1"/>
          </p:cNvSpPr>
          <p:nvPr>
            <p:ph type="title"/>
          </p:nvPr>
        </p:nvSpPr>
        <p:spPr/>
        <p:txBody>
          <a:bodyPr/>
          <a:lstStyle/>
          <a:p>
            <a:r>
              <a:rPr lang="es-MX" b="1" dirty="0">
                <a:solidFill>
                  <a:schemeClr val="accent1"/>
                </a:solidFill>
              </a:rPr>
              <a:t>Evidencias</a:t>
            </a:r>
            <a:endParaRPr lang="es-MX" dirty="0">
              <a:solidFill>
                <a:schemeClr val="accent1"/>
              </a:solidFill>
            </a:endParaRPr>
          </a:p>
        </p:txBody>
      </p:sp>
      <p:sp>
        <p:nvSpPr>
          <p:cNvPr id="3" name="Marcador de contenido 2">
            <a:extLst>
              <a:ext uri="{FF2B5EF4-FFF2-40B4-BE49-F238E27FC236}">
                <a16:creationId xmlns:a16="http://schemas.microsoft.com/office/drawing/2014/main" id="{D7B3B9C7-9391-429A-DDF3-66A31B247933}"/>
              </a:ext>
            </a:extLst>
          </p:cNvPr>
          <p:cNvSpPr>
            <a:spLocks noGrp="1"/>
          </p:cNvSpPr>
          <p:nvPr>
            <p:ph idx="1"/>
          </p:nvPr>
        </p:nvSpPr>
        <p:spPr>
          <a:xfrm>
            <a:off x="838199" y="1428750"/>
            <a:ext cx="10182225" cy="1857375"/>
          </a:xfrm>
        </p:spPr>
        <p:txBody>
          <a:bodyPr>
            <a:normAutofit/>
          </a:bodyPr>
          <a:lstStyle/>
          <a:p>
            <a:pPr marL="0" indent="0">
              <a:buNone/>
            </a:pPr>
            <a:r>
              <a:rPr lang="es-MX" dirty="0"/>
              <a:t>Durante la realización de las pruebas se recopilaron evidencias visuales que permiten comprobar el funcionamiento del sistema </a:t>
            </a:r>
            <a:r>
              <a:rPr lang="es-MX" dirty="0" err="1"/>
              <a:t>EventControl</a:t>
            </a:r>
            <a:r>
              <a:rPr lang="es-MX" dirty="0"/>
              <a:t> en diferentes escenarios.</a:t>
            </a:r>
          </a:p>
          <a:p>
            <a:pPr marL="0" indent="0">
              <a:buNone/>
            </a:pPr>
            <a:r>
              <a:rPr lang="es-MX" dirty="0"/>
              <a:t>Entre las principales evidencias se encuentran:</a:t>
            </a:r>
          </a:p>
          <a:p>
            <a:endParaRPr lang="es-MX" dirty="0"/>
          </a:p>
        </p:txBody>
      </p:sp>
      <p:pic>
        <p:nvPicPr>
          <p:cNvPr id="4" name="Imagen 3">
            <a:extLst>
              <a:ext uri="{FF2B5EF4-FFF2-40B4-BE49-F238E27FC236}">
                <a16:creationId xmlns:a16="http://schemas.microsoft.com/office/drawing/2014/main" id="{A62FE9D1-109B-3C4A-D0C5-9B679E565BAC}"/>
              </a:ext>
            </a:extLst>
          </p:cNvPr>
          <p:cNvPicPr>
            <a:picLocks noChangeAspect="1"/>
          </p:cNvPicPr>
          <p:nvPr/>
        </p:nvPicPr>
        <p:blipFill>
          <a:blip r:embed="rId2"/>
          <a:stretch>
            <a:fillRect/>
          </a:stretch>
        </p:blipFill>
        <p:spPr>
          <a:xfrm>
            <a:off x="6569073" y="3429000"/>
            <a:ext cx="5289551" cy="2975372"/>
          </a:xfrm>
          <a:prstGeom prst="rect">
            <a:avLst/>
          </a:prstGeom>
        </p:spPr>
      </p:pic>
      <p:sp>
        <p:nvSpPr>
          <p:cNvPr id="6" name="CuadroTexto 5">
            <a:extLst>
              <a:ext uri="{FF2B5EF4-FFF2-40B4-BE49-F238E27FC236}">
                <a16:creationId xmlns:a16="http://schemas.microsoft.com/office/drawing/2014/main" id="{04556065-01E4-D18A-65CE-A190BBFF74B1}"/>
              </a:ext>
            </a:extLst>
          </p:cNvPr>
          <p:cNvSpPr txBox="1"/>
          <p:nvPr/>
        </p:nvSpPr>
        <p:spPr>
          <a:xfrm>
            <a:off x="762001" y="4270355"/>
            <a:ext cx="5572124" cy="646331"/>
          </a:xfrm>
          <a:prstGeom prst="rect">
            <a:avLst/>
          </a:prstGeom>
          <a:noFill/>
        </p:spPr>
        <p:txBody>
          <a:bodyPr wrap="square">
            <a:spAutoFit/>
          </a:bodyPr>
          <a:lstStyle/>
          <a:p>
            <a:pPr>
              <a:buFont typeface="Wingdings" panose="05000000000000000000" pitchFamily="2" charset="2"/>
              <a:buChar char="Ø"/>
            </a:pPr>
            <a:r>
              <a:rPr lang="es-MX" dirty="0"/>
              <a:t>Capturas del proceso de creación de pases y generación de códigos. </a:t>
            </a:r>
          </a:p>
        </p:txBody>
      </p:sp>
    </p:spTree>
    <p:extLst>
      <p:ext uri="{BB962C8B-B14F-4D97-AF65-F5344CB8AC3E}">
        <p14:creationId xmlns:p14="http://schemas.microsoft.com/office/powerpoint/2010/main" val="6542891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FBB0AE6F-B273-E2E0-826B-AF69B43BAB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40624" y="1806575"/>
            <a:ext cx="1958102" cy="4351338"/>
          </a:xfrm>
          <a:prstGeom prst="rect">
            <a:avLst/>
          </a:prstGeom>
        </p:spPr>
      </p:pic>
      <p:sp>
        <p:nvSpPr>
          <p:cNvPr id="7" name="CuadroTexto 6">
            <a:extLst>
              <a:ext uri="{FF2B5EF4-FFF2-40B4-BE49-F238E27FC236}">
                <a16:creationId xmlns:a16="http://schemas.microsoft.com/office/drawing/2014/main" id="{53B4C508-49CB-9F40-8F23-31C58D2E3A69}"/>
              </a:ext>
            </a:extLst>
          </p:cNvPr>
          <p:cNvSpPr txBox="1"/>
          <p:nvPr/>
        </p:nvSpPr>
        <p:spPr>
          <a:xfrm>
            <a:off x="962025" y="2739509"/>
            <a:ext cx="2695575" cy="923330"/>
          </a:xfrm>
          <a:prstGeom prst="rect">
            <a:avLst/>
          </a:prstGeom>
          <a:noFill/>
        </p:spPr>
        <p:txBody>
          <a:bodyPr wrap="square">
            <a:spAutoFit/>
          </a:bodyPr>
          <a:lstStyle/>
          <a:p>
            <a:pPr marL="285750" indent="-285750">
              <a:buFont typeface="Wingdings" panose="05000000000000000000" pitchFamily="2" charset="2"/>
              <a:buChar char="Ø"/>
            </a:pPr>
            <a:r>
              <a:rPr lang="es-MX" dirty="0"/>
              <a:t>Evidencias del flujo de confirmación mediante WhatsApp. </a:t>
            </a:r>
          </a:p>
        </p:txBody>
      </p:sp>
      <p:sp>
        <p:nvSpPr>
          <p:cNvPr id="9" name="CuadroTexto 8">
            <a:extLst>
              <a:ext uri="{FF2B5EF4-FFF2-40B4-BE49-F238E27FC236}">
                <a16:creationId xmlns:a16="http://schemas.microsoft.com/office/drawing/2014/main" id="{4D7F1B34-C99B-7932-903C-389ADABDA650}"/>
              </a:ext>
            </a:extLst>
          </p:cNvPr>
          <p:cNvSpPr txBox="1"/>
          <p:nvPr/>
        </p:nvSpPr>
        <p:spPr>
          <a:xfrm>
            <a:off x="7374376" y="4515145"/>
            <a:ext cx="3350774" cy="923330"/>
          </a:xfrm>
          <a:prstGeom prst="rect">
            <a:avLst/>
          </a:prstGeom>
          <a:noFill/>
        </p:spPr>
        <p:txBody>
          <a:bodyPr wrap="square">
            <a:spAutoFit/>
          </a:bodyPr>
          <a:lstStyle/>
          <a:p>
            <a:pPr algn="just"/>
            <a:r>
              <a:rPr lang="es-MX" dirty="0"/>
              <a:t>Validación de acceso y funcionamiento del sistema en tiempo real</a:t>
            </a:r>
          </a:p>
        </p:txBody>
      </p:sp>
      <p:pic>
        <p:nvPicPr>
          <p:cNvPr id="10" name="Marcador de contenido 4">
            <a:extLst>
              <a:ext uri="{FF2B5EF4-FFF2-40B4-BE49-F238E27FC236}">
                <a16:creationId xmlns:a16="http://schemas.microsoft.com/office/drawing/2014/main" id="{08C1964A-8742-F7F3-3E2E-AF80B4B92578}"/>
              </a:ext>
            </a:extLst>
          </p:cNvPr>
          <p:cNvPicPr>
            <a:picLocks noChangeAspect="1"/>
          </p:cNvPicPr>
          <p:nvPr/>
        </p:nvPicPr>
        <p:blipFill>
          <a:blip r:embed="rId3"/>
          <a:stretch>
            <a:fillRect/>
          </a:stretch>
        </p:blipFill>
        <p:spPr>
          <a:xfrm>
            <a:off x="6641652" y="1885949"/>
            <a:ext cx="4326996" cy="2433935"/>
          </a:xfrm>
          <a:prstGeom prst="rect">
            <a:avLst/>
          </a:prstGeom>
        </p:spPr>
      </p:pic>
    </p:spTree>
    <p:extLst>
      <p:ext uri="{BB962C8B-B14F-4D97-AF65-F5344CB8AC3E}">
        <p14:creationId xmlns:p14="http://schemas.microsoft.com/office/powerpoint/2010/main" val="33018043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48D2CA9B-D6AD-6275-C850-00A3150FE644}"/>
              </a:ext>
            </a:extLst>
          </p:cNvPr>
          <p:cNvSpPr txBox="1"/>
          <p:nvPr/>
        </p:nvSpPr>
        <p:spPr>
          <a:xfrm>
            <a:off x="687001" y="2967335"/>
            <a:ext cx="3320651" cy="923330"/>
          </a:xfrm>
          <a:prstGeom prst="rect">
            <a:avLst/>
          </a:prstGeom>
          <a:noFill/>
        </p:spPr>
        <p:txBody>
          <a:bodyPr wrap="square">
            <a:spAutoFit/>
          </a:bodyPr>
          <a:lstStyle/>
          <a:p>
            <a:r>
              <a:rPr lang="es-MX" dirty="0"/>
              <a:t>Capturas de errores controlados, como fallos en la generación de imágenes. </a:t>
            </a:r>
          </a:p>
        </p:txBody>
      </p:sp>
      <p:sp>
        <p:nvSpPr>
          <p:cNvPr id="7" name="CuadroTexto 6">
            <a:extLst>
              <a:ext uri="{FF2B5EF4-FFF2-40B4-BE49-F238E27FC236}">
                <a16:creationId xmlns:a16="http://schemas.microsoft.com/office/drawing/2014/main" id="{9A865A8D-7F07-97B7-6F25-7A02878DC236}"/>
              </a:ext>
            </a:extLst>
          </p:cNvPr>
          <p:cNvSpPr txBox="1"/>
          <p:nvPr/>
        </p:nvSpPr>
        <p:spPr>
          <a:xfrm>
            <a:off x="6200775" y="4087882"/>
            <a:ext cx="5503333" cy="646331"/>
          </a:xfrm>
          <a:prstGeom prst="rect">
            <a:avLst/>
          </a:prstGeom>
          <a:noFill/>
        </p:spPr>
        <p:txBody>
          <a:bodyPr wrap="square">
            <a:spAutoFit/>
          </a:bodyPr>
          <a:lstStyle/>
          <a:p>
            <a:r>
              <a:rPr lang="es-MX" dirty="0"/>
              <a:t>Visualización de la base de datos donde se almacenan los registros del sistema.</a:t>
            </a:r>
          </a:p>
        </p:txBody>
      </p:sp>
      <p:pic>
        <p:nvPicPr>
          <p:cNvPr id="10" name="Imagen 9">
            <a:extLst>
              <a:ext uri="{FF2B5EF4-FFF2-40B4-BE49-F238E27FC236}">
                <a16:creationId xmlns:a16="http://schemas.microsoft.com/office/drawing/2014/main" id="{179B6DAD-9E44-0C15-35ED-EAC3F83723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4551" y="1397000"/>
            <a:ext cx="1828800" cy="4064000"/>
          </a:xfrm>
          <a:prstGeom prst="rect">
            <a:avLst/>
          </a:prstGeom>
        </p:spPr>
      </p:pic>
      <p:pic>
        <p:nvPicPr>
          <p:cNvPr id="11" name="Imagen 10">
            <a:extLst>
              <a:ext uri="{FF2B5EF4-FFF2-40B4-BE49-F238E27FC236}">
                <a16:creationId xmlns:a16="http://schemas.microsoft.com/office/drawing/2014/main" id="{B435B36B-415E-96C5-9EDE-9347CA57B5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0775" y="992257"/>
            <a:ext cx="5503333" cy="3095625"/>
          </a:xfrm>
          <a:prstGeom prst="rect">
            <a:avLst/>
          </a:prstGeom>
        </p:spPr>
      </p:pic>
    </p:spTree>
    <p:extLst>
      <p:ext uri="{BB962C8B-B14F-4D97-AF65-F5344CB8AC3E}">
        <p14:creationId xmlns:p14="http://schemas.microsoft.com/office/powerpoint/2010/main" val="3676036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838200" y="968374"/>
            <a:ext cx="10515600" cy="5352913"/>
          </a:xfrm>
        </p:spPr>
        <p:txBody>
          <a:bodyPr>
            <a:normAutofit fontScale="92500" lnSpcReduction="10000"/>
          </a:bodyPr>
          <a:lstStyle/>
          <a:p>
            <a:pPr marL="0" indent="0">
              <a:buNone/>
            </a:pPr>
            <a:r>
              <a:rPr lang="es-MX" sz="4800" b="1" dirty="0">
                <a:solidFill>
                  <a:schemeClr val="accent1"/>
                </a:solidFill>
                <a:latin typeface="+mj-lt"/>
              </a:rPr>
              <a:t>Conclusión</a:t>
            </a:r>
          </a:p>
          <a:p>
            <a:pPr marL="0" indent="0">
              <a:buNone/>
            </a:pPr>
            <a:endParaRPr lang="es-MX" dirty="0"/>
          </a:p>
          <a:p>
            <a:pPr marL="0" indent="0" algn="just">
              <a:buNone/>
            </a:pPr>
            <a:r>
              <a:rPr lang="es-MX" dirty="0"/>
              <a:t>La práctica permitió comprender y validar la importancia de las pruebas de software dentro del desarrollo de sistemas, ya que a través de su aplicación es posible identificar errores, corregir inconsistencias y mejorar la calidad del sistema.</a:t>
            </a:r>
          </a:p>
          <a:p>
            <a:pPr marL="0" indent="0" algn="just">
              <a:buNone/>
            </a:pPr>
            <a:r>
              <a:rPr lang="es-MX" dirty="0"/>
              <a:t>Mediante la ejecución de pruebas unitarias, de integración y de sistema, se comprobó el correcto funcionamiento de los distintos módulos de </a:t>
            </a:r>
            <a:r>
              <a:rPr lang="es-MX" b="1" dirty="0" err="1"/>
              <a:t>EventControl</a:t>
            </a:r>
            <a:r>
              <a:rPr lang="es-MX" dirty="0"/>
              <a:t>, así como la interacción entre ellos. Esto permitió asegurar que el sistema cumple con los requerimientos funcionales establecidos.</a:t>
            </a:r>
          </a:p>
          <a:p>
            <a:pPr marL="0" indent="0" algn="just">
              <a:buNone/>
            </a:pPr>
            <a:r>
              <a:rPr lang="es-MX" dirty="0"/>
              <a:t> </a:t>
            </a:r>
            <a:r>
              <a:rPr lang="es-MX" b="1" dirty="0" err="1"/>
              <a:t>EventControl</a:t>
            </a:r>
            <a:r>
              <a:rPr lang="es-MX" b="1" dirty="0"/>
              <a:t> </a:t>
            </a:r>
            <a:r>
              <a:rPr lang="es-MX" dirty="0"/>
              <a:t>demostró ser un sistema funcional, estable y confiable, destacando la relevancia de las pruebas como una etapa fundamental para garantizar el correcto desempeño antes de su implementación en un entorno real.</a:t>
            </a:r>
          </a:p>
        </p:txBody>
      </p:sp>
    </p:spTree>
    <p:extLst>
      <p:ext uri="{BB962C8B-B14F-4D97-AF65-F5344CB8AC3E}">
        <p14:creationId xmlns:p14="http://schemas.microsoft.com/office/powerpoint/2010/main" val="4155922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6DA2FF-7C2C-1119-8953-886408E6D4C9}"/>
              </a:ext>
            </a:extLst>
          </p:cNvPr>
          <p:cNvSpPr>
            <a:spLocks noGrp="1"/>
          </p:cNvSpPr>
          <p:nvPr>
            <p:ph type="title"/>
          </p:nvPr>
        </p:nvSpPr>
        <p:spPr/>
        <p:txBody>
          <a:bodyPr/>
          <a:lstStyle/>
          <a:p>
            <a:r>
              <a:rPr lang="en-US" b="1">
                <a:solidFill>
                  <a:schemeClr val="accent1"/>
                </a:solidFill>
              </a:rPr>
              <a:t>Fuente </a:t>
            </a:r>
            <a:r>
              <a:rPr lang="en-US" b="1" dirty="0">
                <a:solidFill>
                  <a:schemeClr val="accent1"/>
                </a:solidFill>
              </a:rPr>
              <a:t>De Informacion</a:t>
            </a:r>
            <a:br>
              <a:rPr lang="es-MX" b="1" dirty="0"/>
            </a:br>
            <a:endParaRPr lang="es-MX" dirty="0"/>
          </a:p>
        </p:txBody>
      </p:sp>
      <p:sp>
        <p:nvSpPr>
          <p:cNvPr id="3" name="Marcador de contenido 2">
            <a:extLst>
              <a:ext uri="{FF2B5EF4-FFF2-40B4-BE49-F238E27FC236}">
                <a16:creationId xmlns:a16="http://schemas.microsoft.com/office/drawing/2014/main" id="{A856CD60-E685-D049-34CF-39CC56E2AA5C}"/>
              </a:ext>
            </a:extLst>
          </p:cNvPr>
          <p:cNvSpPr>
            <a:spLocks noGrp="1"/>
          </p:cNvSpPr>
          <p:nvPr>
            <p:ph idx="1"/>
          </p:nvPr>
        </p:nvSpPr>
        <p:spPr/>
        <p:txBody>
          <a:bodyPr>
            <a:normAutofit/>
          </a:bodyPr>
          <a:lstStyle/>
          <a:p>
            <a:pPr marL="0" lvl="0" indent="0">
              <a:buNone/>
            </a:pPr>
            <a:r>
              <a:rPr lang="es-MX" dirty="0"/>
              <a:t>Rafaelrav8770. IDS Repositorio de GitHub.</a:t>
            </a:r>
            <a:br>
              <a:rPr lang="es-MX" dirty="0"/>
            </a:br>
            <a:r>
              <a:rPr lang="es-MX" dirty="0">
                <a:hlinkClick r:id="rId2"/>
              </a:rPr>
              <a:t>https://github.com/rafaelrav8770/IDS.git</a:t>
            </a:r>
            <a:endParaRPr lang="es-MX" dirty="0"/>
          </a:p>
          <a:p>
            <a:endParaRPr lang="es-MX" dirty="0"/>
          </a:p>
        </p:txBody>
      </p:sp>
    </p:spTree>
    <p:extLst>
      <p:ext uri="{BB962C8B-B14F-4D97-AF65-F5344CB8AC3E}">
        <p14:creationId xmlns:p14="http://schemas.microsoft.com/office/powerpoint/2010/main" val="37562405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722</TotalTime>
  <Words>1474</Words>
  <Application>Microsoft Office PowerPoint</Application>
  <PresentationFormat>Panorámica</PresentationFormat>
  <Paragraphs>162</Paragraphs>
  <Slides>27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27</vt:i4>
      </vt:variant>
    </vt:vector>
  </HeadingPairs>
  <TitlesOfParts>
    <vt:vector size="32" baseType="lpstr">
      <vt:lpstr>Arial</vt:lpstr>
      <vt:lpstr>Calibri</vt:lpstr>
      <vt:lpstr>Calibri Light</vt:lpstr>
      <vt:lpstr>Wingdings</vt:lpstr>
      <vt:lpstr>Tema de Office</vt:lpstr>
      <vt:lpstr>Presentación de PowerPoint</vt:lpstr>
      <vt:lpstr>Presentación de PowerPoint</vt:lpstr>
      <vt:lpstr>Presentación de PowerPoint</vt:lpstr>
      <vt:lpstr>justificacion</vt:lpstr>
      <vt:lpstr>Descripción del sistema EventControl</vt:lpstr>
      <vt:lpstr>Presentación de PowerPoint</vt:lpstr>
      <vt:lpstr>Herramientas y tecnologías utilizadas</vt:lpstr>
      <vt:lpstr>Metodología</vt:lpstr>
      <vt:lpstr>Tipos de Pruebas Aplicadas</vt:lpstr>
      <vt:lpstr>Tipos de Pruebas Aplicadas</vt:lpstr>
      <vt:lpstr>Presentación de PowerPoint</vt:lpstr>
      <vt:lpstr>Presentación de PowerPoint</vt:lpstr>
      <vt:lpstr>Casos de prueba</vt:lpstr>
      <vt:lpstr>Caso 1: Inicio de sesión correcto</vt:lpstr>
      <vt:lpstr>Caso 2: Inicio de sesión incorrecto</vt:lpstr>
      <vt:lpstr>Caso 3: Registro de invitados</vt:lpstr>
      <vt:lpstr>Caso 4: Generación de pase</vt:lpstr>
      <vt:lpstr>Caso 5: Confirmación</vt:lpstr>
      <vt:lpstr>Caso 6: Escaneo QR</vt:lpstr>
      <vt:lpstr>Caso 7: Código inválido</vt:lpstr>
      <vt:lpstr>Resultados obtenidos</vt:lpstr>
      <vt:lpstr>Presentación de PowerPoint</vt:lpstr>
      <vt:lpstr>Evidencias</vt:lpstr>
      <vt:lpstr>Presentación de PowerPoint</vt:lpstr>
      <vt:lpstr>Presentación de PowerPoint</vt:lpstr>
      <vt:lpstr>Presentación de PowerPoint</vt:lpstr>
      <vt:lpstr>Fuente De Informacion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40</cp:revision>
  <dcterms:created xsi:type="dcterms:W3CDTF">2026-02-14T13:39:49Z</dcterms:created>
  <dcterms:modified xsi:type="dcterms:W3CDTF">2026-03-27T02:44:35Z</dcterms:modified>
</cp:coreProperties>
</file>