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14" r:id="rId3"/>
    <p:sldId id="263" r:id="rId4"/>
    <p:sldId id="258" r:id="rId5"/>
    <p:sldId id="303" r:id="rId6"/>
    <p:sldId id="304" r:id="rId7"/>
    <p:sldId id="322" r:id="rId8"/>
    <p:sldId id="341" r:id="rId9"/>
    <p:sldId id="336" r:id="rId10"/>
    <p:sldId id="332" r:id="rId11"/>
    <p:sldId id="331" r:id="rId12"/>
    <p:sldId id="343" r:id="rId13"/>
    <p:sldId id="329" r:id="rId14"/>
    <p:sldId id="335" r:id="rId15"/>
    <p:sldId id="330" r:id="rId16"/>
    <p:sldId id="342" r:id="rId17"/>
    <p:sldId id="334" r:id="rId18"/>
    <p:sldId id="324" r:id="rId19"/>
    <p:sldId id="325" r:id="rId20"/>
    <p:sldId id="328" r:id="rId21"/>
    <p:sldId id="337" r:id="rId22"/>
    <p:sldId id="338" r:id="rId23"/>
    <p:sldId id="339" r:id="rId24"/>
    <p:sldId id="315" r:id="rId25"/>
    <p:sldId id="317" r:id="rId26"/>
    <p:sldId id="340" r:id="rId27"/>
    <p:sldId id="326" r:id="rId28"/>
    <p:sldId id="327" r:id="rId29"/>
    <p:sldId id="260" r:id="rId3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1209675" y="1824715"/>
            <a:ext cx="8667750" cy="162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INGENIERIA DE SOFTWARE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3.3 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Ejercicio (Documentación técnica)</a:t>
            </a:r>
            <a:r>
              <a:rPr lang="es-MX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6835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3615904" y="3275886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18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</a:t>
            </a: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MARZ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DEBC2-DED4-FDCA-0AA1-A2061A9E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/>
          <a:lstStyle/>
          <a:p>
            <a:r>
              <a:rPr lang="en-US" dirty="0" err="1">
                <a:solidFill>
                  <a:schemeClr val="accent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Índice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A3CF3B-215F-37CF-3204-F8E4AA6B0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663"/>
            <a:ext cx="10515600" cy="478130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Objetivo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Justificación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Descripción general del sistema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Descripción del sistema (tabla) ← esta diapositiva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Propósito del sistema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Usuarios del sistema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Módulos del </a:t>
            </a:r>
            <a:r>
              <a:rPr lang="es-MX" dirty="0" err="1"/>
              <a:t>sistemaTecnologías</a:t>
            </a:r>
            <a:r>
              <a:rPr lang="es-MX" dirty="0"/>
              <a:t> utilizadas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Arquitectura del sistema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Base de datos del sistema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Funcionamiento del sistema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Funciones principales del sistema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Proceso de desarrollo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Evidencias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Conclusión</a:t>
            </a:r>
          </a:p>
          <a:p>
            <a:pPr marL="514350" indent="-514350">
              <a:buFont typeface="+mj-lt"/>
              <a:buAutoNum type="arabicPeriod"/>
            </a:pPr>
            <a:endParaRPr lang="es-MX" dirty="0"/>
          </a:p>
          <a:p>
            <a:endParaRPr lang="es-MX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17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1. Introducción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El presente documento se expone la documentación técnica del sistema </a:t>
            </a:r>
            <a:r>
              <a:rPr lang="es-MX" b="1" dirty="0" err="1"/>
              <a:t>EventControl</a:t>
            </a:r>
            <a:r>
              <a:rPr lang="es-MX" dirty="0"/>
              <a:t>, desarrollado con Su finalidad es presentar de manera general la forma en que fue construido el sistema, las tecnologías empleadas y la manera en que opera.</a:t>
            </a:r>
          </a:p>
          <a:p>
            <a:pPr marL="0" indent="0" algn="just">
              <a:buNone/>
            </a:pPr>
            <a:r>
              <a:rPr lang="es-MX" b="1" dirty="0" err="1"/>
              <a:t>EventControl</a:t>
            </a:r>
            <a:r>
              <a:rPr lang="es-MX" dirty="0"/>
              <a:t> es una aplicación web orientada a facilitar la organización y administración de eventos. Entre sus funciones principales se encuentran la gestión de los invitados, la asignación de mesas y el control de acceso mediante códigos QR. Para su desarrollo fue necesario aplicación de conocimientos de programación, bases de datos y diseño de software, integrando estos elementos en una propuesta tecnológica funcional.</a:t>
            </a:r>
          </a:p>
          <a:p>
            <a:pPr marL="0" indent="0" algn="just">
              <a:buNone/>
            </a:pPr>
            <a:r>
              <a:rPr lang="es-MX" dirty="0"/>
              <a:t>Se describen los aspectos más importantes del proyecto, incluyendo la justificación de su desarrollo, las herramientas tecnológicas utilizadas, la estructura general del sistema, su funcionamiento y las etapas del proceso seguido para su construcción.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2. Objetivo</a:t>
            </a:r>
          </a:p>
          <a:p>
            <a:pPr marL="0" indent="0">
              <a:buNone/>
            </a:pPr>
            <a:r>
              <a:rPr lang="es-MX" dirty="0"/>
              <a:t> </a:t>
            </a:r>
          </a:p>
          <a:p>
            <a:pPr marL="0" indent="0" algn="just">
              <a:buNone/>
            </a:pPr>
            <a:r>
              <a:rPr lang="es-MX" dirty="0"/>
              <a:t>Documentar de manera técnica y clara el sistema </a:t>
            </a:r>
            <a:r>
              <a:rPr lang="es-MX" b="1" dirty="0" err="1"/>
              <a:t>EventControl</a:t>
            </a:r>
            <a:r>
              <a:rPr lang="es-MX" dirty="0"/>
              <a:t>, describiendo su propósito, estructura, funcionamiento y tecnologías utilizadas, como evidencia del trabajo realizado durante la asignatura de </a:t>
            </a:r>
            <a:r>
              <a:rPr lang="es-MX" b="1" dirty="0"/>
              <a:t>Ingeniería de Software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3867A-3E04-8632-141B-8C5FDD17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3. </a:t>
            </a:r>
            <a:r>
              <a:rPr lang="es-MX" sz="4800" b="1" dirty="0" err="1">
                <a:solidFill>
                  <a:schemeClr val="accent1"/>
                </a:solidFill>
              </a:rPr>
              <a:t>Justificacion</a:t>
            </a:r>
            <a:endParaRPr lang="es-MX" sz="4800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A835B-7257-6BC0-9849-98A1416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dirty="0"/>
              <a:t>La elaboración de este documento es importante porque permite presentar de forma organizada el trabajo realizado en el desarrollo del sistema </a:t>
            </a:r>
            <a:r>
              <a:rPr lang="es-MX" b="1" dirty="0" err="1"/>
              <a:t>EventControl</a:t>
            </a:r>
            <a:r>
              <a:rPr lang="es-MX" dirty="0"/>
              <a:t>. </a:t>
            </a:r>
          </a:p>
          <a:p>
            <a:pPr marL="0" indent="0" algn="just">
              <a:buNone/>
            </a:pPr>
            <a:r>
              <a:rPr lang="es-MX" dirty="0"/>
              <a:t>Se eligió documentar este sistema porque representa una solución útil para la administración de eventos, ya que permite mejorar el control de invitados, la asignación de mesas y el acceso al evento mediante herramientas digitales. En lugar de depender únicamente de listas impresas o procesos manuales, el sistema ofrece una alternativa más moderna y eficiente.</a:t>
            </a:r>
          </a:p>
          <a:p>
            <a:pPr marL="0" indent="0" algn="just">
              <a:buNone/>
            </a:pPr>
            <a:r>
              <a:rPr lang="es-MX" dirty="0"/>
              <a:t>Además, este trabajo permite aplicar y demostrar conocimientos adquiridos en </a:t>
            </a:r>
            <a:r>
              <a:rPr lang="es-MX" dirty="0" err="1"/>
              <a:t>trancurso</a:t>
            </a:r>
            <a:r>
              <a:rPr lang="es-MX" dirty="0"/>
              <a:t> de la carrera, como el análisis de requerimientos, la organización de módulos, el uso de bases de datos y la implementación de funciones orientadas a resolver una necesidad real. Por ello, la documentación técnica no solo describe el sistema, sino que también muestra el proceso de aprendizaje y desarrollo.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2723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E45DD-83FD-7C7F-E454-73B541A9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ea typeface="Montserrat Bold"/>
                <a:cs typeface="Montserrat Bold"/>
                <a:sym typeface="Montserrat Bold"/>
              </a:rPr>
              <a:t>4. DESCRIPCIÓN GENERAL DEL SISTEMA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7691D4-AC9B-1844-3BF1-CDAF93338BFD}"/>
              </a:ext>
            </a:extLst>
          </p:cNvPr>
          <p:cNvSpPr txBox="1"/>
          <p:nvPr/>
        </p:nvSpPr>
        <p:spPr>
          <a:xfrm>
            <a:off x="1006893" y="1691561"/>
            <a:ext cx="49204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b="1" dirty="0" err="1"/>
              <a:t>EventControl</a:t>
            </a:r>
            <a:r>
              <a:rPr lang="es-MX" dirty="0"/>
              <a:t> es un sistema web orientado a la gestión de eventos. Fue pensado para facilitar la administración de invitados y mejorar la organización general del evento mediante funciones digitales que simplifican tareas importantes.</a:t>
            </a:r>
          </a:p>
          <a:p>
            <a:pPr algn="just">
              <a:buNone/>
            </a:pPr>
            <a:r>
              <a:rPr lang="es-MX" dirty="0"/>
              <a:t>El sistema permite registrar información del evento, organizar invitados, asignar mesas y controlar la entrada de personas utilizando códigos QR. De esta manera, se busca reducir errores, ahorrar tiempo y llevar un mejor control de la información.</a:t>
            </a:r>
          </a:p>
          <a:p>
            <a:pPr algn="just">
              <a:buNone/>
            </a:pPr>
            <a:r>
              <a:rPr lang="es-MX" dirty="0"/>
              <a:t>De forma general, la propuesta del sistema consiste en ofrecer una herramienta práctica para que los organizadores puedan consultar y administrar datos de manera rápida desde una interfaz sencilla.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0F251C2-2D6E-E433-E7AE-6AB926180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5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B060A-77DB-9CEB-3C2B-BE4940CB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ea typeface="Montserrat Bold"/>
                <a:cs typeface="Montserrat Bold"/>
                <a:sym typeface="Montserrat Bold"/>
              </a:rPr>
              <a:t>5. DESCRIPCION DEL SISTEMA(TABLA)</a:t>
            </a:r>
            <a:endParaRPr lang="es-MX" dirty="0">
              <a:solidFill>
                <a:schemeClr val="accent1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69ABA4D-0656-0D25-CF81-68BD4801A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164677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942314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41606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Nombre del sistemas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b="1" dirty="0" err="1"/>
                        <a:t>EventControl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877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 de Aplicación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Aplicación web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292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 Despliegue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En línea / Web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578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69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DA1E-CA23-4849-7080-F27BDFF6E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D33C9-89D7-A5CF-1736-D283679AB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6. Propósito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463F7-B65A-A844-2997-FB17C7D01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El propósito principal de </a:t>
            </a:r>
            <a:r>
              <a:rPr lang="es-MX" b="1" dirty="0" err="1"/>
              <a:t>EventControl</a:t>
            </a:r>
            <a:r>
              <a:rPr lang="es-MX" dirty="0"/>
              <a:t> es apoyar en la organización de eventos mediante una plataforma que permita centralizar información importante y facilitar procesos como: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El registro y administración de invitados.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La asignación de mesas.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La confirmación de asistencia.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El control de acceso mediante QR.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La consulta rápida de información relacionada con el evento.</a:t>
            </a:r>
          </a:p>
          <a:p>
            <a:pPr marL="0" indent="0">
              <a:buNone/>
            </a:pPr>
            <a:r>
              <a:rPr lang="es-MX" dirty="0"/>
              <a:t>Con esto, el sistema ayuda a que la gestión sea más eficiente y ordenada.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5521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DEC1D-AF76-784F-F532-133E1652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7. USUARIOS DEL SISTEMA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ECD1C0-44BF-3355-7D8B-9D50E8EDB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/>
              <a:t>El sistema </a:t>
            </a:r>
            <a:r>
              <a:rPr lang="es-MX" dirty="0" err="1"/>
              <a:t>EventControl</a:t>
            </a:r>
            <a:r>
              <a:rPr lang="es-MX" dirty="0"/>
              <a:t> contempla diferentes tipos de usuarios que interactúan con la plataforma de acuerdo con sus funciones dentro del evento.</a:t>
            </a:r>
          </a:p>
          <a:p>
            <a:pPr marL="0" indent="0">
              <a:buNone/>
            </a:pPr>
            <a:r>
              <a:rPr lang="es-MX" b="1" dirty="0"/>
              <a:t>Administrador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Es el usuario encargado de gestionar la información del evento. Puede registrar invitados, asignar mesas, revisar confirmaciones de asistencia y consultar los accesos registrados durante el evento.</a:t>
            </a:r>
          </a:p>
          <a:p>
            <a:pPr marL="0" indent="0">
              <a:buNone/>
            </a:pPr>
            <a:r>
              <a:rPr lang="es-MX" b="1" dirty="0"/>
              <a:t>Personal de control de acceso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Son las personas encargadas de verificar la entrada de los invitados durante el evento mediante el escaneo de códigos QR.</a:t>
            </a:r>
          </a:p>
          <a:p>
            <a:pPr marL="0" indent="0">
              <a:buNone/>
            </a:pPr>
            <a:r>
              <a:rPr lang="es-MX" b="1" dirty="0"/>
              <a:t>Invitados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Son las personas que reciben la invitación al evento y pueden confirmar su asistencia utilizando el sistema.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189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29939-7F5C-3221-0335-791DB7370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5128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accent1"/>
                </a:solidFill>
              </a:rPr>
              <a:t>8. Módulos del sistema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2ECCFA-B34A-A454-0B8D-36F452D23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9841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/>
              <a:t>El sistema </a:t>
            </a:r>
            <a:r>
              <a:rPr lang="es-MX" b="1" dirty="0" err="1"/>
              <a:t>EventControl</a:t>
            </a:r>
            <a:r>
              <a:rPr lang="es-MX" dirty="0"/>
              <a:t> se divide en diferentes módulos que permiten gestionar cada parte del evento de forma organizada.</a:t>
            </a:r>
          </a:p>
          <a:p>
            <a:pPr marL="0" indent="0">
              <a:buNone/>
            </a:pPr>
            <a:r>
              <a:rPr lang="es-MX" dirty="0"/>
              <a:t>Cada módulo cumple una función específica dentro del sistema y permite administrar información relacionada con los invitados, la organización del evento y el control de acceso.</a:t>
            </a:r>
          </a:p>
          <a:p>
            <a:pPr marL="0" indent="0">
              <a:buNone/>
            </a:pPr>
            <a:r>
              <a:rPr lang="es-MX" dirty="0"/>
              <a:t>Dentro del sistema también existe una pantalla de resumen del evento (</a:t>
            </a:r>
            <a:r>
              <a:rPr lang="es-MX" dirty="0" err="1"/>
              <a:t>Dashboard</a:t>
            </a:r>
            <a:r>
              <a:rPr lang="es-MX" dirty="0"/>
              <a:t>), la cual forma parte del panel administrativo y permite visualizar información general del evento.</a:t>
            </a:r>
          </a:p>
          <a:p>
            <a:pPr marL="0" indent="0">
              <a:buNone/>
            </a:pPr>
            <a:r>
              <a:rPr lang="es-MX" b="1" dirty="0"/>
              <a:t>Los principales módulos del sistema son: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Administración de invitados</a:t>
            </a:r>
          </a:p>
          <a:p>
            <a:pPr marL="0" indent="0">
              <a:buNone/>
            </a:pPr>
            <a:r>
              <a:rPr lang="es-MX" dirty="0"/>
              <a:t>Asignación de mesas</a:t>
            </a:r>
          </a:p>
          <a:p>
            <a:pPr marL="0" indent="0">
              <a:buNone/>
            </a:pPr>
            <a:r>
              <a:rPr lang="es-MX" dirty="0"/>
              <a:t>Confirmación de asistencia</a:t>
            </a:r>
          </a:p>
          <a:p>
            <a:pPr marL="0" indent="0">
              <a:buNone/>
            </a:pPr>
            <a:r>
              <a:rPr lang="es-MX" dirty="0"/>
              <a:t>Control de acceso</a:t>
            </a:r>
          </a:p>
          <a:p>
            <a:pPr marL="0" indent="0">
              <a:buNone/>
            </a:pPr>
            <a:r>
              <a:rPr lang="es-MX" dirty="0"/>
              <a:t>Panel administrativo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244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B063AA-17A8-06B8-DBD8-B95ADBE1F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60883"/>
            <a:ext cx="5129462" cy="4578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A través de este panel se puede acceder a las diferentes funciones del sistema para gestionar la organización del evento.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4D6B6D-4451-65A6-FC42-E733BBCE15C4}"/>
              </a:ext>
            </a:extLst>
          </p:cNvPr>
          <p:cNvSpPr txBox="1"/>
          <p:nvPr/>
        </p:nvSpPr>
        <p:spPr>
          <a:xfrm>
            <a:off x="619629" y="418208"/>
            <a:ext cx="11209419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dirty="0"/>
              <a:t>Resumen del evento (</a:t>
            </a:r>
            <a:r>
              <a:rPr lang="es-MX" sz="4400" dirty="0" err="1"/>
              <a:t>dashboard</a:t>
            </a:r>
            <a:r>
              <a:rPr lang="es-MX" sz="4400" dirty="0"/>
              <a:t>)</a:t>
            </a:r>
            <a:endParaRPr lang="es-MX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CDBFD3-D74A-BE2E-771B-11A4DE697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553075"/>
            <a:ext cx="5951621" cy="334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11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C6A8D-3DE0-B7FD-6302-A17ED93CF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9. Funciones principales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71EA29-2D95-899B-FB68-1F7582FC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Administración de invitados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Asignación de mesas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Confirmación de asistencia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Control de acceso mediante QR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/>
              <a:t>Panel administrativo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38214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FD5F2-CC85-26ED-0F1B-FAF0E40FF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568" y="2133600"/>
            <a:ext cx="6412832" cy="41549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Este módulo permite registrar y gestionar la información de los invitados.</a:t>
            </a:r>
          </a:p>
          <a:p>
            <a:pPr marL="0" indent="0" algn="just">
              <a:buNone/>
            </a:pPr>
            <a:r>
              <a:rPr lang="es-MX" dirty="0"/>
              <a:t>El administrador puede agregar nuevos invitados, editar su información y asignarlos a una mesa específica.</a:t>
            </a:r>
          </a:p>
          <a:p>
            <a:pPr marL="0" indent="0" algn="just">
              <a:buNone/>
            </a:pPr>
            <a:r>
              <a:rPr lang="es-MX" dirty="0"/>
              <a:t>También se registra el código de acceso que cada invitado utilizará para confirmar su asistencia.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1A0CD627-695D-0394-FE3C-84A2E1A39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493"/>
            <a:ext cx="10515600" cy="1325563"/>
          </a:xfrm>
        </p:spPr>
        <p:txBody>
          <a:bodyPr/>
          <a:lstStyle/>
          <a:p>
            <a:r>
              <a:rPr lang="es-MX" b="1" dirty="0"/>
              <a:t>Administración de invitados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F05061-5028-742E-5075-CA04BBC0C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2261936"/>
            <a:ext cx="4919579" cy="276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6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B343CF-1009-7B91-92AD-D323A5560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24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Este módulo permite organizar a los invitados dentro del evento mediante la asignación de mesas.</a:t>
            </a:r>
          </a:p>
          <a:p>
            <a:pPr marL="0" indent="0">
              <a:buNone/>
            </a:pPr>
            <a:r>
              <a:rPr lang="es-MX" dirty="0"/>
              <a:t>Cada mesa tiene un número y una capacidad determinada, lo que permite distribuir correctamente a los invitados.</a:t>
            </a:r>
          </a:p>
          <a:p>
            <a:pPr marL="0" indent="0">
              <a:buNone/>
            </a:pPr>
            <a:r>
              <a:rPr lang="es-MX" dirty="0"/>
              <a:t>El administrador puede visualizar qué invitados están asignados a cada mesa.</a:t>
            </a:r>
          </a:p>
          <a:p>
            <a:endParaRPr lang="es-MX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A900C11-BA93-6D24-45B1-BA400733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Asignación de mesas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DF7DBBE-B8AD-A954-0B0B-BA9A61EB1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610" y="2107694"/>
            <a:ext cx="4865817" cy="273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15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F60D6-95E5-DC3E-202F-3F7B09C9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Confirmación de asistencia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AA05DA-DE40-CB57-7978-535CBAF3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0516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Este módulo permite a los invitados confirmar si asistirán al evento.</a:t>
            </a:r>
          </a:p>
          <a:p>
            <a:pPr marL="0" indent="0">
              <a:buNone/>
            </a:pPr>
            <a:r>
              <a:rPr lang="es-MX" dirty="0"/>
              <a:t>Los invitados ingresan su código de acceso en la página de confirmación y el sistema registra su respuesta.</a:t>
            </a:r>
          </a:p>
          <a:p>
            <a:pPr marL="0" indent="0">
              <a:buNone/>
            </a:pPr>
            <a:r>
              <a:rPr lang="es-MX" dirty="0"/>
              <a:t>Esto permite al organizador conocer cuántas personas asistirán al evento.</a:t>
            </a:r>
          </a:p>
          <a:p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056F728-2A49-013F-8DCA-5ED808F62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943" y="1460500"/>
            <a:ext cx="2264569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46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9038D-1646-8AEE-EF6A-5CF0A76A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Control de acceso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BA48C5-5A75-CBBF-B83A-8F7881FB2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91989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El sistema permite verificar la entrada de los invitados mediante el uso de códigos QR.</a:t>
            </a:r>
          </a:p>
          <a:p>
            <a:pPr marL="0" indent="0">
              <a:buNone/>
            </a:pPr>
            <a:r>
              <a:rPr lang="es-MX" dirty="0"/>
              <a:t>Cada invitado cuenta con un código QR único que es escaneado en la entrada del evento.</a:t>
            </a:r>
          </a:p>
          <a:p>
            <a:pPr marL="0" indent="0">
              <a:buNone/>
            </a:pPr>
            <a:r>
              <a:rPr lang="es-MX" dirty="0"/>
              <a:t>Esto permite validar el acceso de manera rápida y segura.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AE8293-04C0-A9AC-D996-4F87A1E23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189" y="1507957"/>
            <a:ext cx="4762724" cy="267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58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3CFD9-6D76-C631-D9D3-C8CD901F0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Panel administrativo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BA9B6C-8576-CC1D-AF94-4A8774620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7821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/>
              <a:t>El panel administrativo es la sección principal desde donde el administrador controla todas las funciones del sistema.</a:t>
            </a:r>
          </a:p>
          <a:p>
            <a:pPr marL="0" indent="0" algn="just">
              <a:buNone/>
            </a:pPr>
            <a:r>
              <a:rPr lang="es-MX" dirty="0"/>
              <a:t>Desde este panel es posible gestionar invitados, mesas, confirmaciones de asistencia y verificar los accesos al evento.</a:t>
            </a:r>
          </a:p>
          <a:p>
            <a:pPr marL="0" indent="0" algn="just">
              <a:buNone/>
            </a:pPr>
            <a:r>
              <a:rPr lang="es-MX" dirty="0"/>
              <a:t>Este módulo permite tener un control completo sobre la organización del evento.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00AF90-6132-CADB-58EA-A6A971409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021" y="1690688"/>
            <a:ext cx="5018736" cy="282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27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7A75E-24ED-2E04-2125-9194D397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10. </a:t>
            </a:r>
            <a:r>
              <a:rPr lang="es-MX" b="1" dirty="0" err="1">
                <a:solidFill>
                  <a:schemeClr val="accent1"/>
                </a:solidFill>
              </a:rPr>
              <a:t>Tecnologias</a:t>
            </a:r>
            <a:r>
              <a:rPr lang="es-MX" b="1" dirty="0">
                <a:solidFill>
                  <a:schemeClr val="accent1"/>
                </a:solidFill>
              </a:rPr>
              <a:t> utilizadas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BE4870C-4408-D67F-0318-3F79CF3619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673105"/>
              </p:ext>
            </p:extLst>
          </p:nvPr>
        </p:nvGraphicFramePr>
        <p:xfrm>
          <a:off x="838200" y="1446332"/>
          <a:ext cx="10984832" cy="4846320"/>
        </p:xfrm>
        <a:graphic>
          <a:graphicData uri="http://schemas.openxmlformats.org/drawingml/2006/table">
            <a:tbl>
              <a:tblPr/>
              <a:tblGrid>
                <a:gridCol w="10984832">
                  <a:extLst>
                    <a:ext uri="{9D8B030D-6E8A-4147-A177-3AD203B41FA5}">
                      <a16:colId xmlns:a16="http://schemas.microsoft.com/office/drawing/2014/main" val="1893494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MX" b="1" dirty="0"/>
                    </a:p>
                    <a:p>
                      <a:pPr>
                        <a:buNone/>
                      </a:pPr>
                      <a:r>
                        <a:rPr lang="es-MX" b="1" dirty="0"/>
                        <a:t>Tecnología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494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HTML5:Se utilizó para estructurar las páginas del sistema y organizar el contenido que se muestra al usuario.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050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CSS3:Se empleó para el diseño visual del sistema, permitiendo mejorar la apariencia de la interfaz y facilitar la navegación.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376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JavaScript (ES6+):Se utilizó para implementar la lógica del sistema y permitir la interacción dinámica con los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60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 err="1"/>
                        <a:t>Supabase</a:t>
                      </a:r>
                      <a:r>
                        <a:rPr lang="es-MX" dirty="0"/>
                        <a:t>: Se utilizó como plataforma de </a:t>
                      </a:r>
                      <a:r>
                        <a:rPr lang="es-MX" dirty="0" err="1"/>
                        <a:t>backend</a:t>
                      </a:r>
                      <a:r>
                        <a:rPr lang="es-MX" dirty="0"/>
                        <a:t> en la nube para gestionar la base de datos, la autenticación de usuarios y la seguridad del sistema.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782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Vercel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71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788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Html5-QRCode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97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Git / 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373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Visual Studio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113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Google </a:t>
                      </a:r>
                      <a:r>
                        <a:rPr lang="es-MX" dirty="0" err="1"/>
                        <a:t>Fonts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752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204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4A132-34F7-EF9D-F23A-FB4F2AE0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11. Arquitectura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9ABCC5-DFAC-4AC8-8DB7-84F89E5E9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dirty="0"/>
              <a:t>El sistema </a:t>
            </a:r>
            <a:r>
              <a:rPr lang="es-MX" b="1" dirty="0" err="1"/>
              <a:t>EventControl</a:t>
            </a:r>
            <a:r>
              <a:rPr lang="es-MX" dirty="0"/>
              <a:t> opera bajo una arquitectura </a:t>
            </a:r>
            <a:r>
              <a:rPr lang="es-MX" b="1" dirty="0"/>
              <a:t>cliente–servidor</a:t>
            </a:r>
            <a:r>
              <a:rPr lang="es-MX" dirty="0"/>
              <a:t>. El </a:t>
            </a:r>
            <a:r>
              <a:rPr lang="es-MX" b="1" dirty="0" err="1"/>
              <a:t>frontend</a:t>
            </a:r>
            <a:r>
              <a:rPr lang="es-MX" dirty="0"/>
              <a:t> se ejecuta directamente en el navegador del usuario y tiene como función principal presentar la interfaz del sistema y facilitar la interacción del usuario con la información almacenada.</a:t>
            </a:r>
          </a:p>
          <a:p>
            <a:pPr marL="0" indent="0">
              <a:buNone/>
            </a:pPr>
            <a:r>
              <a:rPr lang="es-MX" dirty="0"/>
              <a:t>Para la gestión de los datos se emplea </a:t>
            </a:r>
            <a:r>
              <a:rPr lang="es-MX" b="1" dirty="0" err="1"/>
              <a:t>Supabase</a:t>
            </a:r>
            <a:r>
              <a:rPr lang="es-MX" dirty="0"/>
              <a:t>, el cual actúa como un servicio de </a:t>
            </a:r>
            <a:r>
              <a:rPr lang="es-MX" b="1" dirty="0" err="1"/>
              <a:t>backend</a:t>
            </a:r>
            <a:r>
              <a:rPr lang="es-MX" b="1" dirty="0"/>
              <a:t> en la nube</a:t>
            </a:r>
            <a:r>
              <a:rPr lang="es-MX" dirty="0"/>
              <a:t>. Mediante esta plataforma el sistema puede </a:t>
            </a:r>
            <a:r>
              <a:rPr lang="es-MX" b="1" dirty="0"/>
              <a:t>almacenar, consultar y actualizar</a:t>
            </a:r>
            <a:r>
              <a:rPr lang="es-MX" dirty="0"/>
              <a:t> la información relacionada con los invitados, la asignación de mesas y el registro de acceso al evento.</a:t>
            </a:r>
          </a:p>
          <a:p>
            <a:pPr marL="0" indent="0">
              <a:buNone/>
            </a:pPr>
            <a:r>
              <a:rPr lang="es-MX" dirty="0"/>
              <a:t>Una ventaja importante de esta implementación es que </a:t>
            </a:r>
            <a:r>
              <a:rPr lang="es-MX" b="1" dirty="0"/>
              <a:t>no fue necesario desarrollar un servidor </a:t>
            </a:r>
            <a:r>
              <a:rPr lang="es-MX" b="1" dirty="0" err="1"/>
              <a:t>backend</a:t>
            </a:r>
            <a:r>
              <a:rPr lang="es-MX" b="1" dirty="0"/>
              <a:t> tradicional</a:t>
            </a:r>
            <a:r>
              <a:rPr lang="es-MX" dirty="0"/>
              <a:t>, debido a que </a:t>
            </a:r>
            <a:r>
              <a:rPr lang="es-MX" dirty="0" err="1"/>
              <a:t>Supabase</a:t>
            </a:r>
            <a:r>
              <a:rPr lang="es-MX" dirty="0"/>
              <a:t> ofrece las herramientas necesarias para administrar la </a:t>
            </a:r>
            <a:r>
              <a:rPr lang="es-MX" b="1" dirty="0"/>
              <a:t>base de datos, autenticación y seguridad del sistema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La seguridad de la información se implementa mediante </a:t>
            </a:r>
            <a:r>
              <a:rPr lang="es-MX" b="1" dirty="0"/>
              <a:t>políticas de acceso conocidas como </a:t>
            </a:r>
            <a:r>
              <a:rPr lang="es-MX" b="1" dirty="0" err="1"/>
              <a:t>Row</a:t>
            </a:r>
            <a:r>
              <a:rPr lang="es-MX" b="1" dirty="0"/>
              <a:t> </a:t>
            </a:r>
            <a:r>
              <a:rPr lang="es-MX" b="1" dirty="0" err="1"/>
              <a:t>Level</a:t>
            </a:r>
            <a:r>
              <a:rPr lang="es-MX" b="1" dirty="0"/>
              <a:t> Security (RLS)</a:t>
            </a:r>
            <a:r>
              <a:rPr lang="es-MX" dirty="0"/>
              <a:t>. Estas políticas permiten definir </a:t>
            </a:r>
            <a:r>
              <a:rPr lang="es-MX" b="1" dirty="0"/>
              <a:t>qué registros puede visualizar o modificar cada usuario</a:t>
            </a:r>
            <a:r>
              <a:rPr lang="es-MX" dirty="0"/>
              <a:t>, garantizando así un control adecuado sobre los datos dentro del sistema.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00017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97E7D4-DA52-5D96-D30B-6F1E1A9DE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Todos estos módulos se conectan con la </a:t>
            </a:r>
            <a:r>
              <a:rPr lang="es-MX" b="1" dirty="0"/>
              <a:t>base de datos en </a:t>
            </a:r>
            <a:r>
              <a:rPr lang="es-MX" b="1" dirty="0" err="1"/>
              <a:t>Supabase</a:t>
            </a:r>
            <a:r>
              <a:rPr lang="es-MX" dirty="0"/>
              <a:t>, la cual utiliza </a:t>
            </a:r>
            <a:r>
              <a:rPr lang="es-MX" b="1" dirty="0"/>
              <a:t>PostgreSQL</a:t>
            </a:r>
            <a:r>
              <a:rPr lang="es-MX" dirty="0"/>
              <a:t>, políticas de seguridad </a:t>
            </a:r>
            <a:r>
              <a:rPr lang="es-MX" b="1" dirty="0"/>
              <a:t>RLS (</a:t>
            </a:r>
            <a:r>
              <a:rPr lang="es-MX" b="1" dirty="0" err="1"/>
              <a:t>Row</a:t>
            </a:r>
            <a:r>
              <a:rPr lang="es-MX" b="1" dirty="0"/>
              <a:t> </a:t>
            </a:r>
            <a:r>
              <a:rPr lang="es-MX" b="1" dirty="0" err="1"/>
              <a:t>Level</a:t>
            </a:r>
            <a:r>
              <a:rPr lang="es-MX" b="1" dirty="0"/>
              <a:t> Security)</a:t>
            </a:r>
            <a:r>
              <a:rPr lang="es-MX" dirty="0"/>
              <a:t> y funcionalidades </a:t>
            </a:r>
            <a:r>
              <a:rPr lang="es-MX" b="1" dirty="0" err="1"/>
              <a:t>Realtime</a:t>
            </a:r>
            <a:r>
              <a:rPr lang="es-MX" dirty="0"/>
              <a:t> para almacenar y gestionar la información del sistema.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1198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3C808-6104-5F38-60D2-D0B602F4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134269"/>
            <a:ext cx="10515600" cy="764089"/>
          </a:xfrm>
        </p:spPr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12. BASE DE DATOS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F71001-21DE-2054-52D3-8DF622725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0864"/>
            <a:ext cx="11097126" cy="5086100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es-MX" sz="5000" dirty="0"/>
              <a:t>El sistema utiliza una base de datos alojada en </a:t>
            </a:r>
            <a:r>
              <a:rPr lang="es-MX" sz="5000" dirty="0" err="1"/>
              <a:t>Supabase</a:t>
            </a:r>
            <a:r>
              <a:rPr lang="es-MX" sz="5000" dirty="0"/>
              <a:t> basada en </a:t>
            </a:r>
            <a:r>
              <a:rPr lang="es-MX" sz="5000" b="1" dirty="0"/>
              <a:t>PostgreSQL</a:t>
            </a:r>
            <a:r>
              <a:rPr lang="es-MX" sz="5000" dirty="0"/>
              <a:t>. En esta base de datos almacena toda la información relacionada con el evento y los invitados.</a:t>
            </a:r>
          </a:p>
          <a:p>
            <a:pPr marL="0" indent="0" algn="just">
              <a:buNone/>
            </a:pPr>
            <a:r>
              <a:rPr lang="es-MX" sz="5000" dirty="0"/>
              <a:t>Las principales tablas del sistema son:</a:t>
            </a:r>
          </a:p>
          <a:p>
            <a:pPr marL="0" indent="0" algn="just">
              <a:buNone/>
            </a:pPr>
            <a:r>
              <a:rPr lang="es-MX" sz="5000" b="1" dirty="0" err="1"/>
              <a:t>configuracion_evento</a:t>
            </a:r>
            <a:endParaRPr lang="es-MX" sz="5000" dirty="0"/>
          </a:p>
          <a:p>
            <a:pPr marL="0" indent="0" algn="just">
              <a:buNone/>
            </a:pPr>
            <a:r>
              <a:rPr lang="es-MX" sz="5000" dirty="0"/>
              <a:t>Almacena la información general del evento como fecha, hora, lugar y número de mesas.</a:t>
            </a:r>
          </a:p>
          <a:p>
            <a:pPr marL="0" indent="0" algn="just">
              <a:buNone/>
            </a:pPr>
            <a:r>
              <a:rPr lang="es-MX" sz="5000" b="1" dirty="0"/>
              <a:t>mesas</a:t>
            </a:r>
            <a:endParaRPr lang="es-MX" sz="5000" dirty="0"/>
          </a:p>
          <a:p>
            <a:pPr marL="0" indent="0" algn="just">
              <a:buNone/>
            </a:pPr>
            <a:r>
              <a:rPr lang="es-MX" sz="5000" dirty="0"/>
              <a:t>Contiene la información de las mesas del evento, incluyendo su número, capacidad y ocupación.</a:t>
            </a:r>
          </a:p>
          <a:p>
            <a:pPr marL="0" indent="0" algn="just">
              <a:buNone/>
            </a:pPr>
            <a:r>
              <a:rPr lang="es-MX" sz="5000" b="1" dirty="0" err="1"/>
              <a:t>pases_invitados</a:t>
            </a:r>
            <a:endParaRPr lang="es-MX" sz="5000" dirty="0"/>
          </a:p>
          <a:p>
            <a:pPr marL="0" indent="0" algn="just">
              <a:buNone/>
            </a:pPr>
            <a:r>
              <a:rPr lang="es-MX" sz="5000" dirty="0"/>
              <a:t>Registra los datos de los invitados, como nombre de la familia, código de acceso y mesa asignada.</a:t>
            </a:r>
          </a:p>
          <a:p>
            <a:pPr marL="0" indent="0" algn="just">
              <a:buNone/>
            </a:pPr>
            <a:r>
              <a:rPr lang="es-MX" sz="5000" b="1" dirty="0" err="1"/>
              <a:t>registros_entrada</a:t>
            </a:r>
            <a:endParaRPr lang="es-MX" sz="5000" dirty="0"/>
          </a:p>
          <a:p>
            <a:pPr marL="0" indent="0" algn="just">
              <a:buNone/>
            </a:pPr>
            <a:r>
              <a:rPr lang="es-MX" sz="5000" dirty="0"/>
              <a:t>Guarda el historial de acceso de los invitados al evento.</a:t>
            </a:r>
          </a:p>
          <a:p>
            <a:pPr marL="0" indent="0" algn="just">
              <a:buNone/>
            </a:pPr>
            <a:r>
              <a:rPr lang="es-MX" sz="5000" b="1" dirty="0" err="1"/>
              <a:t>descargas_invitacion</a:t>
            </a:r>
            <a:endParaRPr lang="es-MX" sz="5000" dirty="0"/>
          </a:p>
          <a:p>
            <a:pPr marL="0" indent="0" algn="just">
              <a:buNone/>
            </a:pPr>
            <a:r>
              <a:rPr lang="es-MX" sz="5000" dirty="0"/>
              <a:t>Registra cuándo los invitados descargan su invitación digital con código QR.</a:t>
            </a:r>
          </a:p>
          <a:p>
            <a:pPr marL="0" indent="0" algn="just">
              <a:buNone/>
            </a:pPr>
            <a:r>
              <a:rPr lang="es-MX" sz="5000" b="1" dirty="0" err="1"/>
              <a:t>perfiles_usuario</a:t>
            </a:r>
            <a:endParaRPr lang="es-MX" sz="5000" dirty="0"/>
          </a:p>
          <a:p>
            <a:pPr marL="0" indent="0" algn="just">
              <a:buNone/>
            </a:pPr>
            <a:r>
              <a:rPr lang="es-MX" sz="5000" dirty="0"/>
              <a:t>Almacena la información de los usuarios del sistema y sus roles.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021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D4A7D7F-98C2-4686-C5D2-7366CDE64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439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A953418-B64A-71BF-E8A4-3F00D970E0A7}"/>
              </a:ext>
            </a:extLst>
          </p:cNvPr>
          <p:cNvSpPr txBox="1"/>
          <p:nvPr/>
        </p:nvSpPr>
        <p:spPr>
          <a:xfrm>
            <a:off x="886328" y="424935"/>
            <a:ext cx="6104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accent1"/>
                </a:solidFill>
              </a:rPr>
              <a:t>Diagrama de la base de datos del sistema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3577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1E52C-A592-91A6-CBBF-65DC345A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13. FUNCIONAMIENTO DEL SISTEMA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7D1173-BC2C-9E83-727A-4932D6C38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El funcionamiento del sistema </a:t>
            </a:r>
            <a:r>
              <a:rPr lang="es-MX" dirty="0" err="1"/>
              <a:t>EventControl</a:t>
            </a:r>
            <a:r>
              <a:rPr lang="es-MX" dirty="0"/>
              <a:t> se realiza mediante un proceso que inicia con la configuración del evento y finaliza con el registro de acceso de los invitados.</a:t>
            </a:r>
          </a:p>
          <a:p>
            <a:pPr marL="0" indent="0">
              <a:buNone/>
            </a:pPr>
            <a:r>
              <a:rPr lang="es-MX" dirty="0"/>
              <a:t>El administrador configura la información del evento y crea las mesas disponibles.</a:t>
            </a:r>
          </a:p>
          <a:p>
            <a:pPr marL="0" indent="0">
              <a:buNone/>
            </a:pPr>
            <a:r>
              <a:rPr lang="es-MX" dirty="0"/>
              <a:t>Posteriormente se registran los invitados dentro del sistema, asignándoles una mesa y generando un código de acceso único.</a:t>
            </a:r>
          </a:p>
          <a:p>
            <a:pPr marL="0" indent="0">
              <a:buNone/>
            </a:pPr>
            <a:r>
              <a:rPr lang="es-MX" dirty="0"/>
              <a:t>Los invitados pueden confirmar su asistencia ingresando su código en la página de confirmación del sistema.</a:t>
            </a:r>
          </a:p>
          <a:p>
            <a:pPr marL="0" indent="0">
              <a:buNone/>
            </a:pPr>
            <a:r>
              <a:rPr lang="es-MX" dirty="0"/>
              <a:t>El día del evento, el personal de control de acceso utiliza el módulo de escaneo QR para verificar la entrada de los invitados.</a:t>
            </a:r>
          </a:p>
          <a:p>
            <a:pPr marL="0" indent="0">
              <a:buNone/>
            </a:pPr>
            <a:r>
              <a:rPr lang="es-MX" dirty="0"/>
              <a:t>Cada acceso queda registrado automáticamente en la base de datos del sistema.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04926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99DDF-916A-382C-A224-1DCC19D4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Funciones principales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0C5AF6-26F4-B29E-70A6-24745545D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De acuerdo con el planteamiento del proyecto, el sistema contempla funciones como las siguientes: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b="1" dirty="0"/>
              <a:t>Administración de invitados</a:t>
            </a:r>
          </a:p>
          <a:p>
            <a:pPr marL="0" indent="0">
              <a:buNone/>
            </a:pPr>
            <a:r>
              <a:rPr lang="es-MX" dirty="0"/>
              <a:t>Facilita el registro y organización de los invitados, almacenando información necesaria para su control dentro del evento.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b="1" dirty="0"/>
              <a:t>Asignación de mesas</a:t>
            </a:r>
          </a:p>
          <a:p>
            <a:pPr marL="0" indent="0">
              <a:buNone/>
            </a:pPr>
            <a:r>
              <a:rPr lang="es-MX" dirty="0"/>
              <a:t>Permite distribuir a los invitados en diferentes mesas, considerando capacidad y organización del espacio.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09709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5CDD1D0-8211-F6F4-CFA1-E7AFD57E27FE}"/>
              </a:ext>
            </a:extLst>
          </p:cNvPr>
          <p:cNvSpPr txBox="1"/>
          <p:nvPr/>
        </p:nvSpPr>
        <p:spPr>
          <a:xfrm>
            <a:off x="529390" y="818148"/>
            <a:ext cx="1031507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MX" sz="2800" b="1" dirty="0"/>
              <a:t>Confirmación de asistencia</a:t>
            </a:r>
          </a:p>
          <a:p>
            <a:pPr marL="0" indent="0">
              <a:buNone/>
            </a:pPr>
            <a:r>
              <a:rPr lang="es-MX" sz="2800" dirty="0"/>
              <a:t>Ayuda a llevar el control de qué invitados han confirmado su asistencia al evento.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2800" b="1" dirty="0"/>
              <a:t>Control de acceso</a:t>
            </a:r>
          </a:p>
          <a:p>
            <a:pPr marL="0" indent="0">
              <a:buNone/>
            </a:pPr>
            <a:r>
              <a:rPr lang="es-MX" sz="2800" dirty="0"/>
              <a:t>Se realiza mediante códigos QR o códigos de acceso, permitiendo verificar de forma rápida la entrada de los invitados.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2800" b="1" dirty="0"/>
              <a:t>Panel administrativo</a:t>
            </a:r>
          </a:p>
          <a:p>
            <a:pPr marL="0" indent="0">
              <a:buNone/>
            </a:pPr>
            <a:r>
              <a:rPr lang="es-MX" sz="2800" dirty="0"/>
              <a:t>Ofrece un espacio para que el usuario administrador pueda consultar información general, gestionar invitados, revisar accesos y mantener la organización del evento.</a:t>
            </a:r>
          </a:p>
        </p:txBody>
      </p:sp>
    </p:spTree>
    <p:extLst>
      <p:ext uri="{BB962C8B-B14F-4D97-AF65-F5344CB8AC3E}">
        <p14:creationId xmlns:p14="http://schemas.microsoft.com/office/powerpoint/2010/main" val="1735001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849E0-9156-F32B-C1D4-C87074C29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14. PROCESO DE DESARROLLO DEL SISTEMA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2CD214-A41B-C974-2A5D-6225CC52A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16"/>
            <a:ext cx="10515600" cy="468504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MX" dirty="0"/>
              <a:t>El desarrollo del sistema </a:t>
            </a:r>
            <a:r>
              <a:rPr lang="es-MX" dirty="0" err="1"/>
              <a:t>EventControl</a:t>
            </a:r>
            <a:r>
              <a:rPr lang="es-MX" dirty="0"/>
              <a:t> se realizó siguiendo varias etapas del proceso de ingeniería de software.</a:t>
            </a:r>
          </a:p>
          <a:p>
            <a:pPr marL="0" indent="0" algn="just">
              <a:buNone/>
            </a:pPr>
            <a:r>
              <a:rPr lang="es-MX" b="1" dirty="0"/>
              <a:t>Análisis</a:t>
            </a:r>
            <a:endParaRPr lang="es-MX" dirty="0"/>
          </a:p>
          <a:p>
            <a:pPr marL="0" indent="0" algn="just">
              <a:buNone/>
            </a:pPr>
            <a:r>
              <a:rPr lang="es-MX" dirty="0"/>
              <a:t>Se identificó la necesidad de mejorar la organización de eventos mediante una herramienta digital.</a:t>
            </a:r>
          </a:p>
          <a:p>
            <a:pPr marL="0" indent="0" algn="just">
              <a:buNone/>
            </a:pPr>
            <a:r>
              <a:rPr lang="es-MX" b="1" dirty="0"/>
              <a:t>Diseño</a:t>
            </a:r>
            <a:endParaRPr lang="es-MX" dirty="0"/>
          </a:p>
          <a:p>
            <a:pPr marL="0" indent="0" algn="just">
              <a:buNone/>
            </a:pPr>
            <a:r>
              <a:rPr lang="es-MX" dirty="0"/>
              <a:t>Se definieron los módulos del sistema, la arquitectura y la estructura de la base de datos.</a:t>
            </a:r>
          </a:p>
          <a:p>
            <a:pPr marL="0" indent="0" algn="just">
              <a:buNone/>
            </a:pPr>
            <a:r>
              <a:rPr lang="es-MX" b="1" dirty="0"/>
              <a:t>Desarrollo</a:t>
            </a:r>
            <a:endParaRPr lang="es-MX" dirty="0"/>
          </a:p>
          <a:p>
            <a:pPr marL="0" indent="0" algn="just">
              <a:buNone/>
            </a:pPr>
            <a:r>
              <a:rPr lang="es-MX" dirty="0"/>
              <a:t>Se implementaron las funcionalidades del sistema utilizando tecnologías web como HTML, CSS y JavaScript.</a:t>
            </a:r>
          </a:p>
          <a:p>
            <a:pPr marL="0" indent="0" algn="just">
              <a:buNone/>
            </a:pPr>
            <a:r>
              <a:rPr lang="es-MX" b="1" dirty="0"/>
              <a:t>Pruebas</a:t>
            </a:r>
            <a:endParaRPr lang="es-MX" dirty="0"/>
          </a:p>
          <a:p>
            <a:pPr marL="0" indent="0" algn="just">
              <a:buNone/>
            </a:pPr>
            <a:r>
              <a:rPr lang="es-MX" dirty="0"/>
              <a:t>Se realizaron pruebas para verificar que el sistema funcionara correctamente.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32937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0DBA9-CD92-8ABF-47CF-F8BE07155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864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accent1"/>
                </a:solidFill>
              </a:rPr>
              <a:t>15. Evidencias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16D291-5398-C11F-63F7-3998437CA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958"/>
            <a:ext cx="6405702" cy="4984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Página de invitación (index.html)</a:t>
            </a:r>
            <a:br>
              <a:rPr lang="es-MX" dirty="0"/>
            </a:br>
            <a:r>
              <a:rPr lang="es-MX" dirty="0"/>
              <a:t>Es la página principal donde los invitados pueden visualizar la invitación digital del evento y acceder a la información general.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b="1" dirty="0" err="1"/>
              <a:t>Login</a:t>
            </a:r>
            <a:r>
              <a:rPr lang="es-MX" b="1" dirty="0"/>
              <a:t> del sistema (</a:t>
            </a:r>
            <a:r>
              <a:rPr lang="es-MX" b="1" dirty="0" err="1"/>
              <a:t>admin</a:t>
            </a:r>
            <a:r>
              <a:rPr lang="es-MX" b="1" dirty="0"/>
              <a:t>/index.html, </a:t>
            </a:r>
            <a:r>
              <a:rPr lang="es-MX" b="1" dirty="0" err="1"/>
              <a:t>access</a:t>
            </a:r>
            <a:r>
              <a:rPr lang="es-MX" b="1" dirty="0"/>
              <a:t>-control/index.html)</a:t>
            </a:r>
            <a:br>
              <a:rPr lang="es-MX" dirty="0"/>
            </a:br>
            <a:r>
              <a:rPr lang="es-MX" dirty="0"/>
              <a:t>Permite que los usuarios autorizados accedan al sistema mediante autenticación para utilizar las funciones administrativas o de control de acceso.</a:t>
            </a:r>
          </a:p>
          <a:p>
            <a:endParaRPr lang="es-MX" dirty="0"/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268EF5-E33F-DC11-610B-67A2445BA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86" y="1652459"/>
            <a:ext cx="3366400" cy="18936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F252DA-181C-9005-E458-AF8FA5CB7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86" y="4258741"/>
            <a:ext cx="3366400" cy="189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29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79688C-1BBB-C2AD-8D0D-A74E2651A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1053"/>
            <a:ext cx="6364705" cy="6399658"/>
          </a:xfrm>
        </p:spPr>
        <p:txBody>
          <a:bodyPr>
            <a:normAutofit fontScale="92500" lnSpcReduction="20000"/>
          </a:bodyPr>
          <a:lstStyle/>
          <a:p>
            <a:r>
              <a:rPr lang="es-MX" b="1" dirty="0"/>
              <a:t>Confirmación de asistencia (</a:t>
            </a:r>
            <a:r>
              <a:rPr lang="es-MX" b="1" dirty="0" err="1"/>
              <a:t>confirm</a:t>
            </a:r>
            <a:r>
              <a:rPr lang="es-MX" b="1" dirty="0"/>
              <a:t>/index.html)</a:t>
            </a:r>
            <a:br>
              <a:rPr lang="es-MX" dirty="0"/>
            </a:br>
            <a:r>
              <a:rPr lang="es-MX" dirty="0"/>
              <a:t>Módulo que permite a los invitados confirmar su asistencia al evento, lo cual facilita la organización y planificación.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Panel administrativo (</a:t>
            </a:r>
            <a:r>
              <a:rPr lang="es-MX" b="1" dirty="0" err="1"/>
              <a:t>admin</a:t>
            </a:r>
            <a:r>
              <a:rPr lang="es-MX" b="1" dirty="0"/>
              <a:t>/dashboard.html)</a:t>
            </a:r>
            <a:br>
              <a:rPr lang="es-MX" dirty="0"/>
            </a:br>
            <a:r>
              <a:rPr lang="es-MX" dirty="0"/>
              <a:t>Espacio donde los administradores pueden gestionar invitados, mesas y configuraciones del evento.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Control de acceso mediante QR (</a:t>
            </a:r>
            <a:r>
              <a:rPr lang="es-MX" b="1" dirty="0" err="1"/>
              <a:t>access</a:t>
            </a:r>
            <a:r>
              <a:rPr lang="es-MX" b="1" dirty="0"/>
              <a:t>-control/scanner.html)</a:t>
            </a:r>
            <a:br>
              <a:rPr lang="es-MX" dirty="0"/>
            </a:br>
            <a:r>
              <a:rPr lang="es-MX" dirty="0"/>
              <a:t>Módulo utilizado durante el evento para escanear códigos QR y verificar la entrada de los invitados.</a:t>
            </a:r>
          </a:p>
          <a:p>
            <a:endParaRPr lang="es-MX" dirty="0"/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75A7D0-24AC-9F05-E929-31B1E3474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36" y="401053"/>
            <a:ext cx="3366400" cy="1893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F4B01D7-6466-6AD3-13AC-517CA7259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336" y="2654082"/>
            <a:ext cx="3366400" cy="18936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6926162-BCB9-7C6C-BF04-A8D43D5A2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336" y="4907111"/>
            <a:ext cx="3366400" cy="189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99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37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Conclusión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La realización de esta actividad permitió comprender la importancia de la documentación dentro del desarrollo de software.</a:t>
            </a:r>
          </a:p>
          <a:p>
            <a:pPr marL="0" indent="0">
              <a:buNone/>
            </a:pPr>
            <a:r>
              <a:rPr lang="es-MX" dirty="0"/>
              <a:t>Mediante el desarrollo del sistema </a:t>
            </a:r>
            <a:r>
              <a:rPr lang="es-MX" dirty="0" err="1"/>
              <a:t>EventControl</a:t>
            </a:r>
            <a:r>
              <a:rPr lang="es-MX" dirty="0"/>
              <a:t> se aplicaron conocimientos relacionados con programación web, manejo de bases de datos y diseño de interfaces.</a:t>
            </a:r>
          </a:p>
          <a:p>
            <a:pPr marL="0" indent="0">
              <a:buNone/>
            </a:pPr>
            <a:r>
              <a:rPr lang="es-MX" dirty="0"/>
              <a:t>El uso de tecnologías como HTML, CSS, JavaScript y </a:t>
            </a:r>
            <a:r>
              <a:rPr lang="es-MX" dirty="0" err="1"/>
              <a:t>Supabase</a:t>
            </a:r>
            <a:r>
              <a:rPr lang="es-MX" dirty="0"/>
              <a:t> permitió desarrollar una solución funcional orientada a mejorar la organización de eventos mediante herramientas digitales.</a:t>
            </a:r>
          </a:p>
          <a:p>
            <a:pPr marL="0" indent="0">
              <a:buNone/>
            </a:pPr>
            <a:r>
              <a:rPr lang="es-MX" dirty="0"/>
              <a:t>Este proyecto demuestra cómo el uso de tecnologías actuales puede contribuir a resolver problemas reales mediante el desarrollo de sistemas informáticos.</a:t>
            </a:r>
          </a:p>
        </p:txBody>
      </p:sp>
    </p:spTree>
    <p:extLst>
      <p:ext uri="{BB962C8B-B14F-4D97-AF65-F5344CB8AC3E}">
        <p14:creationId xmlns:p14="http://schemas.microsoft.com/office/powerpoint/2010/main" val="4155922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2239</Words>
  <Application>Microsoft Office PowerPoint</Application>
  <PresentationFormat>Panorámica</PresentationFormat>
  <Paragraphs>193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Montserrat Bold</vt:lpstr>
      <vt:lpstr>Wingdings</vt:lpstr>
      <vt:lpstr>Tema de Office</vt:lpstr>
      <vt:lpstr>Presentación de PowerPoint</vt:lpstr>
      <vt:lpstr>Índice</vt:lpstr>
      <vt:lpstr>Presentación de PowerPoint</vt:lpstr>
      <vt:lpstr>Presentación de PowerPoint</vt:lpstr>
      <vt:lpstr>3. Justificacion</vt:lpstr>
      <vt:lpstr>4. DESCRIPCIÓN GENERAL DEL SISTEMA</vt:lpstr>
      <vt:lpstr>5. DESCRIPCION DEL SISTEMA(TABLA)</vt:lpstr>
      <vt:lpstr>6. Propósito del sistema</vt:lpstr>
      <vt:lpstr>7. USUARIOS DEL SISTEMA</vt:lpstr>
      <vt:lpstr>8. Módulos del sistema</vt:lpstr>
      <vt:lpstr>Presentación de PowerPoint</vt:lpstr>
      <vt:lpstr>9. Funciones principales del sistema</vt:lpstr>
      <vt:lpstr>Administración de invitados</vt:lpstr>
      <vt:lpstr>Asignación de mesas</vt:lpstr>
      <vt:lpstr>Confirmación de asistencia</vt:lpstr>
      <vt:lpstr>Control de acceso</vt:lpstr>
      <vt:lpstr>Panel administrativo</vt:lpstr>
      <vt:lpstr>10. Tecnologias utilizadas</vt:lpstr>
      <vt:lpstr>11. Arquitectura del sistema</vt:lpstr>
      <vt:lpstr>Presentación de PowerPoint</vt:lpstr>
      <vt:lpstr>12. BASE DE DATOS DEL SISTEMA</vt:lpstr>
      <vt:lpstr>Presentación de PowerPoint</vt:lpstr>
      <vt:lpstr>13. FUNCIONAMIENTO DEL SISTEMA </vt:lpstr>
      <vt:lpstr>Funciones principales del sistema</vt:lpstr>
      <vt:lpstr>Presentación de PowerPoint</vt:lpstr>
      <vt:lpstr>14. PROCESO DE DESARROLLO DEL SISTEMA</vt:lpstr>
      <vt:lpstr>15. Evidencias del sistema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44</cp:revision>
  <dcterms:created xsi:type="dcterms:W3CDTF">2026-02-14T13:39:49Z</dcterms:created>
  <dcterms:modified xsi:type="dcterms:W3CDTF">2026-03-15T04:41:12Z</dcterms:modified>
</cp:coreProperties>
</file>